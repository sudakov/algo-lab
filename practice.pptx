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562" r:id="rId3"/>
    <p:sldId id="258" r:id="rId4"/>
    <p:sldId id="563" r:id="rId5"/>
    <p:sldId id="564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6"/>
    <p:restoredTop sz="96098"/>
  </p:normalViewPr>
  <p:slideViewPr>
    <p:cSldViewPr snapToGrid="0" snapToObjects="1">
      <p:cViewPr varScale="1">
        <p:scale>
          <a:sx n="120" d="100"/>
          <a:sy n="120" d="100"/>
        </p:scale>
        <p:origin x="1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91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71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59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88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7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53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25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2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60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10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05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51541-4E41-5244-B337-927E1F15D341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E4C8-E0D1-E540-AA75-B4B5D542D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75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68C50-7818-694C-99B1-91BA11220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Теория алгоритмов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BA6578-09F3-BC4E-932E-8ADB8F2CC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42660"/>
            <a:ext cx="6858000" cy="151514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Практика</a:t>
            </a:r>
          </a:p>
          <a:p>
            <a:endParaRPr lang="ru-RU" dirty="0"/>
          </a:p>
          <a:p>
            <a:r>
              <a:rPr lang="ru-RU" dirty="0"/>
              <a:t>Владимир Анатольевич Судаков</a:t>
            </a:r>
          </a:p>
          <a:p>
            <a:r>
              <a:rPr lang="ru-RU" dirty="0"/>
              <a:t>2026 г.</a:t>
            </a:r>
          </a:p>
        </p:txBody>
      </p:sp>
    </p:spTree>
    <p:extLst>
      <p:ext uri="{BB962C8B-B14F-4D97-AF65-F5344CB8AC3E}">
        <p14:creationId xmlns:p14="http://schemas.microsoft.com/office/powerpoint/2010/main" val="64643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68FCE-2EB6-2746-A6F0-5D5A49B8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1621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Правила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2EC740-327B-F845-BB6A-31794A0F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46748"/>
            <a:ext cx="7886700" cy="5678906"/>
          </a:xfrm>
        </p:spPr>
        <p:txBody>
          <a:bodyPr>
            <a:normAutofit/>
          </a:bodyPr>
          <a:lstStyle/>
          <a:p>
            <a:r>
              <a:rPr lang="ru-RU" sz="2400" dirty="0"/>
              <a:t>Решение домашнего задания (ДЗ) нужно приносить на следующее занятие. Если решение – это программа, то присылайте ссылку на </a:t>
            </a:r>
            <a:r>
              <a:rPr lang="en-US" sz="2400" dirty="0" err="1"/>
              <a:t>github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dirty="0"/>
              <a:t>Лучше не полное решение ДЗ, чем его отсутствие. </a:t>
            </a:r>
          </a:p>
          <a:p>
            <a:r>
              <a:rPr lang="ru-RU" sz="2400" dirty="0"/>
              <a:t>Можно и нужно спрашивать по почте и на занятии. Лучше если вопрос будет коротким. </a:t>
            </a:r>
          </a:p>
          <a:p>
            <a:r>
              <a:rPr lang="ru-RU" sz="2400" dirty="0"/>
              <a:t>У нас будут контрольные, но когда – заранее неизвестно</a:t>
            </a:r>
          </a:p>
          <a:p>
            <a:r>
              <a:rPr lang="ru-RU" sz="2400" dirty="0"/>
              <a:t>Опоздание больше 15 минут – пропуск.</a:t>
            </a:r>
          </a:p>
          <a:p>
            <a:r>
              <a:rPr lang="ru-RU" sz="2400" dirty="0"/>
              <a:t>За активность/ответы на занятиях будут дополнительные плюсы.</a:t>
            </a:r>
          </a:p>
          <a:p>
            <a:r>
              <a:rPr lang="ru-RU" sz="2400" dirty="0"/>
              <a:t>Вовремя решенные ДЗ, контрольные без ошибок, и не более 2-х пропусков – автомат на экзамене </a:t>
            </a:r>
          </a:p>
        </p:txBody>
      </p:sp>
    </p:spTree>
    <p:extLst>
      <p:ext uri="{BB962C8B-B14F-4D97-AF65-F5344CB8AC3E}">
        <p14:creationId xmlns:p14="http://schemas.microsoft.com/office/powerpoint/2010/main" val="111126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A5D25-E7B8-B242-9FA5-5D84BDDF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Давайте познакомимся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ACE4E4-30C6-6F44-BD55-26F0ED16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Дано: </a:t>
            </a:r>
          </a:p>
          <a:p>
            <a:pPr lvl="1"/>
            <a:r>
              <a:rPr lang="ru-RU" dirty="0"/>
              <a:t>список группы ФИО через пробел по строкам</a:t>
            </a:r>
          </a:p>
          <a:p>
            <a:r>
              <a:rPr lang="ru-RU" dirty="0"/>
              <a:t>Требуется найти повторения имен:</a:t>
            </a:r>
          </a:p>
          <a:p>
            <a:pPr lvl="1"/>
            <a:r>
              <a:rPr lang="ru-RU" dirty="0"/>
              <a:t>вывести  по строкам ФИО&lt;пробел&gt;&lt;число повторений имени&gt;</a:t>
            </a:r>
          </a:p>
          <a:p>
            <a:r>
              <a:rPr lang="ru-RU" dirty="0"/>
              <a:t>Какая группа «хорошая»?</a:t>
            </a:r>
          </a:p>
          <a:p>
            <a:r>
              <a:rPr lang="ru-RU" dirty="0"/>
              <a:t>Давайте сравним решения (и Ваши и LLM):</a:t>
            </a:r>
          </a:p>
          <a:p>
            <a:pPr lvl="1"/>
            <a:r>
              <a:rPr lang="ru-RU" dirty="0"/>
              <a:t>по каким метрикам будем сравнивать?</a:t>
            </a:r>
          </a:p>
          <a:p>
            <a:r>
              <a:rPr lang="ru-RU" dirty="0"/>
              <a:t>Какая LLM хорошая?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44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9C83F-49E1-D245-83B0-FFAD644A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З</a:t>
            </a:r>
            <a:r>
              <a:rPr lang="ru-RU" dirty="0" err="1"/>
              <a:t>адача</a:t>
            </a:r>
            <a:r>
              <a:rPr lang="ru-RU" dirty="0"/>
              <a:t> о </a:t>
            </a:r>
            <a:r>
              <a:rPr lang="ru-RU" dirty="0" err="1"/>
              <a:t>паросочетаниях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(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stable matching problem</a:t>
            </a:r>
            <a:r>
              <a:rPr lang="ru-RU" dirty="0"/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C87A7B-D3DB-A34F-8FB7-DAAE6DCDA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568" y="2232836"/>
            <a:ext cx="5342864" cy="356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5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F6495-50C0-FC42-803E-51667E60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Подбор больниц для студентов медицинских вузов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C2D0BD-CEDC-C248-A053-C220E82A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>
                <a:solidFill>
                  <a:srgbClr val="043399"/>
                </a:solidFill>
                <a:effectLst/>
                <a:latin typeface="Helvetica" pitchFamily="2" charset="0"/>
              </a:rPr>
              <a:t>Цель.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Имея набор предпочтений среди больниц и студентов медицинских вузов, разработать процесс приема.</a:t>
            </a:r>
          </a:p>
          <a:p>
            <a:r>
              <a:rPr lang="ru-RU" dirty="0">
                <a:solidFill>
                  <a:srgbClr val="043399"/>
                </a:solidFill>
                <a:effectLst/>
                <a:latin typeface="Helvetica" pitchFamily="2" charset="0"/>
              </a:rPr>
              <a:t>Неустойчивая пара.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Больница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h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и студент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s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образуют </a:t>
            </a:r>
            <a:r>
              <a:rPr lang="ru-RU" dirty="0">
                <a:solidFill>
                  <a:srgbClr val="79221B"/>
                </a:solidFill>
                <a:effectLst/>
                <a:latin typeface="Helvetica" pitchFamily="2" charset="0"/>
              </a:rPr>
              <a:t>неустойчивую пару,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если оба: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h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отдает предпочтение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s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перед одним из принятых студентов. </a:t>
            </a:r>
            <a:r>
              <a:rPr lang="ru-RU" dirty="0" err="1">
                <a:solidFill>
                  <a:srgbClr val="000000"/>
                </a:solidFill>
                <a:effectLst/>
                <a:latin typeface="Helvetica" pitchFamily="2" charset="0"/>
              </a:rPr>
              <a:t>s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 отдает предпочтение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h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перед назначенной больницей.</a:t>
            </a:r>
          </a:p>
          <a:p>
            <a:r>
              <a:rPr lang="ru-RU" dirty="0">
                <a:solidFill>
                  <a:srgbClr val="043399"/>
                </a:solidFill>
                <a:effectLst/>
                <a:latin typeface="Helvetica" pitchFamily="2" charset="0"/>
              </a:rPr>
              <a:t>Стабильное распределение.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Распределение без нестабильных пар. Естественное и желательное состояние.</a:t>
            </a:r>
          </a:p>
          <a:p>
            <a:endParaRPr lang="ru-RU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ru-RU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410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79A3A-CC9A-2541-82AF-5E143D22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ED9ED5-63B1-9F4D-97EC-8C02DF07C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43399"/>
                </a:solidFill>
                <a:effectLst/>
                <a:latin typeface="Helvetica" pitchFamily="2" charset="0"/>
              </a:rPr>
              <a:t>Входные данные: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множество из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n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больниц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H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и множество из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n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студентов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S (</a:t>
            </a:r>
            <a:r>
              <a:rPr lang="en" dirty="0" err="1">
                <a:solidFill>
                  <a:srgbClr val="000000"/>
                </a:solidFill>
                <a:effectLst/>
                <a:latin typeface="Helvetica" pitchFamily="2" charset="0"/>
              </a:rPr>
              <a:t>п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ока считаем, что больница берет одного только студента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).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Каждая больница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h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ранжирует студентов. Каждый студент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s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ранжирует больницы.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40EB8A-355D-8A4B-9D0E-17AD84CF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31" y="4264814"/>
            <a:ext cx="6303778" cy="222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2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22990-BA47-B649-B2C6-E8F49B53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Идеальное </a:t>
            </a:r>
            <a:r>
              <a:rPr lang="ru-RU" dirty="0" err="1"/>
              <a:t>паросочетание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C4EBEB0-6E60-5F4A-8962-1A41A0EE7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3029744"/>
            <a:ext cx="78867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8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15979-3F2E-F347-B631-53432685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Нестабильные пары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6DC12B6-58F6-6541-BBE7-BE967D9CD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883939"/>
            <a:ext cx="7886700" cy="22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7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30303-7CC7-8549-BD49-6E354194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6623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223BED-C0AB-C349-BFE3-5E5E13EF3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5141"/>
            <a:ext cx="7886700" cy="2980292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Какая пара является неустойчивой в </a:t>
            </a:r>
            <a:r>
              <a:rPr lang="ru-RU" dirty="0" err="1">
                <a:solidFill>
                  <a:srgbClr val="000000"/>
                </a:solidFill>
                <a:effectLst/>
                <a:latin typeface="Helvetica" pitchFamily="2" charset="0"/>
              </a:rPr>
              <a:t>паросочетании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 {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A–X, B–Z, C–Y }?</a:t>
            </a:r>
          </a:p>
          <a:p>
            <a:r>
              <a:rPr lang="en" b="1" dirty="0">
                <a:solidFill>
                  <a:srgbClr val="074080"/>
                </a:solidFill>
                <a:effectLst/>
                <a:latin typeface="Lucida Grande" panose="020B0600040502020204" pitchFamily="34" charset="0"/>
              </a:rPr>
              <a:t>A.</a:t>
            </a:r>
            <a:r>
              <a:rPr lang="en" b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A–Y.</a:t>
            </a:r>
          </a:p>
          <a:p>
            <a:r>
              <a:rPr lang="en" b="1" dirty="0">
                <a:solidFill>
                  <a:srgbClr val="074080"/>
                </a:solidFill>
                <a:effectLst/>
                <a:latin typeface="Lucida Grande" panose="020B0600040502020204" pitchFamily="34" charset="0"/>
              </a:rPr>
              <a:t>B.</a:t>
            </a:r>
            <a:r>
              <a:rPr lang="en" b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B–X.</a:t>
            </a:r>
          </a:p>
          <a:p>
            <a:r>
              <a:rPr lang="en" b="1" dirty="0">
                <a:solidFill>
                  <a:srgbClr val="074080"/>
                </a:solidFill>
                <a:effectLst/>
                <a:latin typeface="Lucida Grande" panose="020B0600040502020204" pitchFamily="34" charset="0"/>
              </a:rPr>
              <a:t>C.</a:t>
            </a:r>
            <a:r>
              <a:rPr lang="en" b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 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B–Z.</a:t>
            </a:r>
          </a:p>
          <a:p>
            <a:r>
              <a:rPr lang="en" b="1" dirty="0">
                <a:solidFill>
                  <a:srgbClr val="074080"/>
                </a:solidFill>
                <a:effectLst/>
                <a:latin typeface="Lucida Grande" panose="020B0600040502020204" pitchFamily="34" charset="0"/>
              </a:rPr>
              <a:t>D.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Ни один из перечисленных вариантов</a:t>
            </a:r>
            <a:r>
              <a:rPr lang="en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D0828D-4189-D744-8D0D-B098C8907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65" y="4426449"/>
            <a:ext cx="7729870" cy="198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83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DF437-0834-0541-985B-72E41B888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23F119-0832-2743-8CE4-4934E88CB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Напишите программу которая определяет является ли </a:t>
            </a:r>
            <a:r>
              <a:rPr lang="ru-RU" dirty="0" err="1"/>
              <a:t>паросочетание</a:t>
            </a:r>
            <a:r>
              <a:rPr lang="ru-RU" dirty="0"/>
              <a:t> устойчивым</a:t>
            </a:r>
          </a:p>
          <a:p>
            <a:r>
              <a:rPr lang="ru-RU" dirty="0"/>
              <a:t>Вход – таблицы предпочтений и </a:t>
            </a:r>
            <a:r>
              <a:rPr lang="ru-RU" dirty="0" err="1"/>
              <a:t>паросочетания</a:t>
            </a:r>
            <a:r>
              <a:rPr lang="ru-RU" dirty="0"/>
              <a:t>. </a:t>
            </a:r>
          </a:p>
          <a:p>
            <a:r>
              <a:rPr lang="ru-RU" dirty="0"/>
              <a:t>Выход – ответ: Устойчивое или Неустойчивое.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5049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6C845-9A5F-544D-A04E-5CBB8D14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D72DB38-5479-E042-9987-95764483F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0456"/>
                <a:ext cx="7886700" cy="4656507"/>
              </a:xfrm>
            </p:spPr>
            <p:txBody>
              <a:bodyPr>
                <a:noAutofit/>
              </a:bodyPr>
              <a:lstStyle/>
              <a:p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Имеется город, в котором </a:t>
                </a:r>
                <a:r>
                  <a:rPr lang="ru-RU" sz="1800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мужчин и 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женщин пытаются вступить в брак. У каждого мужчины имеется список предпочтений, содержащий оценки всех женщин, а у каждой женщины — список предпочтений с оценками всех мужчин.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Множество всех 2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людей разделено на две категории: хорошие люди и плохие люди. Предположим, для некоторого числа 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 имеются 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хороших мужчин и 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хороших женщин; следовательно, существует 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плохих мужчин </a:t>
                </a:r>
                <a:r>
                  <a:rPr lang="en" sz="18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плохих женщин.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Каждый участник предпочитает любого хорошего человека любому плохому человеку. Формально каждый список предпочтений обладает тем свойством, что оценка любого хорошего человека противоположного пола выше оценки любого плохого человека противоположного пола: первые к позиций в нем занимают хорошие люди (противоположного пола) в некотором порядке, а затем идут </a:t>
                </a:r>
                <a:r>
                  <a:rPr lang="ru-RU" sz="1800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плохих людей (противоположного пола) в некотором порядке.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Покажите, что в каждом устойчивом </a:t>
                </a:r>
                <a:r>
                  <a:rPr lang="ru-RU" sz="18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паросочетании</a:t>
                </a: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каждый хороший мужчина вступает в брак с хорошей женщиной. 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D72DB38-5479-E042-9987-95764483F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0456"/>
                <a:ext cx="7886700" cy="4656507"/>
              </a:xfrm>
              <a:blipFill>
                <a:blip r:embed="rId2"/>
                <a:stretch>
                  <a:fillRect l="-482" t="-1087" b="-2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987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A7DCB-5EA4-824C-BD2D-1440C6DA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EAFE5-583A-3B4B-B533-404A1825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5395"/>
            <a:ext cx="7886700" cy="4741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Решите, является ли приведенное ниже утверждение истинным или ложным. Если оно истинно, приведите короткое объяснение; если ложно — приведите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контрпример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любой конфигурации задачи устойчивых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паросочетаний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существует устойчивое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паросочетание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содержащее пару (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котором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находится на первом месте в списке предпочтений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находится на первом месте в списке предпочтений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Допустим, имеется конфигурация задачи устойчивых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паросочетаний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мужчиной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женщиной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которых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находится на первом месте в списке предпочтений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находится на первом месте в списке предпочтений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этом случае в каждом устойчивом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паросочетании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этой конфигурации пара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принадлежит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514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D686D-2DB2-3540-8EBA-23E0F01F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602437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ECD37B-FAAE-E84B-8633-1212F4F3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02437"/>
            <a:ext cx="8292066" cy="608544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много ситуаций, в которых можно задавать вопросы, относящиеся к некой разновидности принципа «устойчивости». В следующем примере используется формулировка, основанная на конкуренции между двумя компаниями.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Допустим, имеются две телевизионные сети; назовем их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Также доступны </a:t>
            </a:r>
            <a:r>
              <a:rPr lang="ru-RU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программных окон в течение времени массового просмотра, а каждая сеть проводит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телевизионных передач. Каждая сеть хочет создать расписание — схему распределения передач по разным окнам, чтобы обеспечить себе как можно большую долю рынка.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способ поможет сравнить, насколько хорошо две сети справляются со своей задачей, исходя из их расписания. У каждой передачи имеется фиксированный рейтинг, основанный на количестве людей, посмотревших передачу в прошлом году; будем считать, что рейтинги двух передач никогда не совпадают. Сеть выигрывает заданное окно, если передача, которую она ставит в это окно, обладает более высоким рейтингом, чем передача в расписании других сетей для этого окна. Цель каждой сети — захватить как можно больше окон.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Допустим, в первую неделю осеннего сезона сеть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публикует расписание 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сеть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расписание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 основе этой пары расписаний каждая сеть захватывает некоторые окна в соответствии с приведенным выше правилом. Пара расписаний (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будет называться устойчивой, если ни одна из сетей не может в одностороннем порядке изменить свое расписание и получить дополнительные окна. Иначе говоря, не существует расписания 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такого, что сеть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парой (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получит больше окон, чем с парой (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По соображениям симметрии также не существует расписания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которым сеть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 своей парой (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захватит больше окон, чем с парой (</a:t>
            </a:r>
            <a:r>
              <a:rPr lang="e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Аналогия вопроса Гейла и Шепли для подобной устойчивости выглядит так: можно ли утверждать, что для каждого множества телепередач и оценок всегда существует устойчивая пара расписаний? Чтобы ответить на этот вопрос, сделайте одно из двух: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(а) приведите алгоритм, который для любого множества передач и связанных с ними оценок строит устойчивую пару расписаний;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(б) приведите пример множества передач и связанных с ними оценок, для которого не существует устойчивой пары расписаний.</a:t>
            </a:r>
          </a:p>
        </p:txBody>
      </p:sp>
    </p:spTree>
    <p:extLst>
      <p:ext uri="{BB962C8B-B14F-4D97-AF65-F5344CB8AC3E}">
        <p14:creationId xmlns:p14="http://schemas.microsoft.com/office/powerpoint/2010/main" val="1343919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1E9D5-5D31-044D-80D6-0761486A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64214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7E55B0-3D45-1847-8754-908169DB1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56930"/>
            <a:ext cx="7886700" cy="5773479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Гейл и Шепли опубликовали свою статью о задаче устойчивых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паросочетаний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1962 году; однако разновидность их алгоритма к тому времени уже почти 10 лет использовалась Национальной программой распределения студентов- медиков по больницам. По сути, ситуация выглядела так: было т больниц, в каждой из которых имелось некоторое количество вакансий. Также было п студентов-медиков, которые получали диплом и были заинтересованы в поступлении в одну из больниц. Каждая больница строила оценки студентов в порядке предпочтения, и каждый студент строил оценки больниц в порядке предпочтения. Будем считать, что количество выпускников превышает количество доступных вакансий в т больницах. Естественно, задача заключалась в поиске способа связывания каждого студента не более чем с одной больницей, при котором были бы заполнены все вакансии во всех больницах. (Так как предполагается, что количество студентов превышает количество вакансий, некоторые студенты не будут приняты ни в одну из больниц.)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студентов по больницам называется устойчивым, если не встречается ни одна из следующих ситуаций: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Неустойчивость первого типа: имеются студенты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больница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которых: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назначается в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назначается ни в одну больницу,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предпочитает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студенту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Неустойчивость второго типа: имеются студенты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больницы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h',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которых: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назначается в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s'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назначается в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h',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h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предпочитает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студенту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предпочитает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больнице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h'.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Фактически ситуация повторяет задачу устойчивых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паросочетания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не считать того, что 1) в больницах обычно открыто более одной вакансии и 2) студентов больше, чем вакансий.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Покажите, что всегда существует устойчивое распределение студентов по больницам, и приведите алгоритм поиска такого распределения.</a:t>
            </a:r>
          </a:p>
          <a:p>
            <a:pPr marL="0" indent="0">
              <a:spcBef>
                <a:spcPts val="400"/>
              </a:spcBef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085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28C40-A67C-3E41-A13B-587425CB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4334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FA4D7-AC83-9B4B-A56C-E3EA811AD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3889"/>
            <a:ext cx="7886700" cy="533754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 ли мужчина или женщина улучшить свое положение, солгав относительно своих предпочтений? </a:t>
            </a:r>
          </a:p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Допустим, что у каждого участника имеется истинный порядок предпочтений. Теперь рассмотрим женщину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Предположим,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предпочитает мужчину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мужчине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находятся на нижних позициях ее списка предпочтений. Может ли случиться так, что переключение порядка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списке предпочтений (например, ложным утверждением о том, что она предпочитает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мужчине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выполнением алгоритма с ложным списком предпочтений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окажется в паре с мужчиной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которого она в действительности предпочитает как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и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 </a:t>
            </a:r>
          </a:p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Тот же вопрос можно задать и для мужчин, но в контексте нашего упражнения мы ограничимся женщинами. </a:t>
            </a:r>
          </a:p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ответить на этот вопрос, сделайте одно из двух:</a:t>
            </a:r>
          </a:p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(а)	приведите доказательство того, что для любого множества списков предпочтений изменение порядка следования пары в списке предпочтений не сможет улучшить статус партнера женщины в алгоритме Гейла-Шепли; </a:t>
            </a:r>
          </a:p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</a:p>
          <a:p>
            <a:pPr marL="0" lv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(б)	приведите пример множества списков предпочтений, для которых существует изменение порядка следования пары, способное улучшить статус партнера женщины. </a:t>
            </a:r>
          </a:p>
          <a:p>
            <a:pPr marL="0" lv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50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</TotalTime>
  <Words>1558</Words>
  <Application>Microsoft Macintosh PowerPoint</Application>
  <PresentationFormat>Экран (4:3)</PresentationFormat>
  <Paragraphs>82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Helvetica</vt:lpstr>
      <vt:lpstr>Lucida Grande</vt:lpstr>
      <vt:lpstr>Times New Roman</vt:lpstr>
      <vt:lpstr>Тема Office</vt:lpstr>
      <vt:lpstr>Теория алгоритмов</vt:lpstr>
      <vt:lpstr>Правила</vt:lpstr>
      <vt:lpstr>Давайте познакомимся</vt:lpstr>
      <vt:lpstr>Задача о паросочетаниях  (stable matching problem)</vt:lpstr>
      <vt:lpstr>Подбор больниц для студентов медицинских вузов</vt:lpstr>
      <vt:lpstr>Дано</vt:lpstr>
      <vt:lpstr>Идеальное паросочетание</vt:lpstr>
      <vt:lpstr>Нестабильные пары</vt:lpstr>
      <vt:lpstr>Тест 1</vt:lpstr>
      <vt:lpstr>Домашнее задание</vt:lpstr>
      <vt:lpstr>Упражнение 1</vt:lpstr>
      <vt:lpstr>Упражнение 2</vt:lpstr>
      <vt:lpstr>Упражнение 3</vt:lpstr>
      <vt:lpstr>Упражнение 4</vt:lpstr>
      <vt:lpstr>Упражнение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алгоритмов</dc:title>
  <dc:creator>Microsoft Office User</dc:creator>
  <cp:lastModifiedBy>Microsoft Office User</cp:lastModifiedBy>
  <cp:revision>17</cp:revision>
  <dcterms:created xsi:type="dcterms:W3CDTF">2026-02-09T16:49:08Z</dcterms:created>
  <dcterms:modified xsi:type="dcterms:W3CDTF">2026-02-17T17:35:01Z</dcterms:modified>
</cp:coreProperties>
</file>