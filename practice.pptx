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562" r:id="rId3"/>
    <p:sldId id="258" r:id="rId4"/>
    <p:sldId id="563" r:id="rId5"/>
    <p:sldId id="564" r:id="rId6"/>
    <p:sldId id="565" r:id="rId7"/>
    <p:sldId id="566" r:id="rId8"/>
    <p:sldId id="567" r:id="rId9"/>
    <p:sldId id="568" r:id="rId10"/>
    <p:sldId id="569" r:id="rId11"/>
    <p:sldId id="570" r:id="rId12"/>
    <p:sldId id="571" r:id="rId13"/>
    <p:sldId id="572" r:id="rId14"/>
    <p:sldId id="573" r:id="rId15"/>
    <p:sldId id="574" r:id="rId16"/>
    <p:sldId id="575" r:id="rId17"/>
    <p:sldId id="576" r:id="rId18"/>
    <p:sldId id="577" r:id="rId19"/>
    <p:sldId id="578" r:id="rId20"/>
    <p:sldId id="579" r:id="rId21"/>
    <p:sldId id="580" r:id="rId22"/>
    <p:sldId id="581" r:id="rId23"/>
    <p:sldId id="582" r:id="rId24"/>
    <p:sldId id="583" r:id="rId25"/>
    <p:sldId id="584" r:id="rId26"/>
    <p:sldId id="590" r:id="rId27"/>
    <p:sldId id="585" r:id="rId28"/>
    <p:sldId id="586" r:id="rId29"/>
    <p:sldId id="587" r:id="rId30"/>
    <p:sldId id="588" r:id="rId31"/>
    <p:sldId id="589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52"/>
    <p:restoredTop sz="96098"/>
  </p:normalViewPr>
  <p:slideViewPr>
    <p:cSldViewPr snapToGrid="0" snapToObjects="1">
      <p:cViewPr varScale="1">
        <p:scale>
          <a:sx n="120" d="100"/>
          <a:sy n="120" d="100"/>
        </p:scale>
        <p:origin x="15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79C9C68-D856-654E-A289-3DDF2C2FE58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ru-RU"/>
        </a:p>
      </dgm:t>
    </dgm:pt>
    <dgm:pt modelId="{F51F19A3-644E-584F-AE0B-2F6F628EF27C}">
      <dgm:prSet/>
      <dgm:spPr/>
      <dgm:t>
        <a:bodyPr/>
        <a:lstStyle/>
        <a:p>
          <a:r>
            <a:rPr lang="ru-RU" dirty="0"/>
            <a:t>Эффективные алгоритмы для ее решения неизвестны, и есть гипотеза, что такого алгоритма не существует. </a:t>
          </a:r>
        </a:p>
      </dgm:t>
    </dgm:pt>
    <dgm:pt modelId="{E99DA5D1-69E1-5445-9788-18A526B93AAC}" type="parTrans" cxnId="{31F11CB4-2BD6-2744-A53C-DE5942A630F8}">
      <dgm:prSet/>
      <dgm:spPr/>
      <dgm:t>
        <a:bodyPr/>
        <a:lstStyle/>
        <a:p>
          <a:endParaRPr lang="ru-RU"/>
        </a:p>
      </dgm:t>
    </dgm:pt>
    <dgm:pt modelId="{53E440DE-AE4E-5847-ABF9-55DD0404804F}" type="sibTrans" cxnId="{31F11CB4-2BD6-2744-A53C-DE5942A630F8}">
      <dgm:prSet/>
      <dgm:spPr/>
      <dgm:t>
        <a:bodyPr/>
        <a:lstStyle/>
        <a:p>
          <a:endParaRPr lang="ru-RU"/>
        </a:p>
      </dgm:t>
    </dgm:pt>
    <dgm:pt modelId="{AA5F20DE-6F44-774F-9913-D878B268CC70}">
      <dgm:prSet/>
      <dgm:spPr/>
      <dgm:t>
        <a:bodyPr/>
        <a:lstStyle/>
        <a:p>
          <a:r>
            <a:rPr lang="ru-RU"/>
            <a:t>Очевидный алгоритм, действующий методом «грубой силы», перебирает все подмножества узлов, проверяет каждое из них на независимость, после чего запоминает самое большое из обнаруженных подмножеств. </a:t>
          </a:r>
        </a:p>
      </dgm:t>
    </dgm:pt>
    <dgm:pt modelId="{A8E0E3C5-0656-1F44-9F04-AA3155368AB4}" type="parTrans" cxnId="{416A31B2-759C-E54F-8F95-2D6784A8A700}">
      <dgm:prSet/>
      <dgm:spPr/>
      <dgm:t>
        <a:bodyPr/>
        <a:lstStyle/>
        <a:p>
          <a:endParaRPr lang="ru-RU"/>
        </a:p>
      </dgm:t>
    </dgm:pt>
    <dgm:pt modelId="{A6461645-FB9F-6047-9726-2B475B1F9E9D}" type="sibTrans" cxnId="{416A31B2-759C-E54F-8F95-2D6784A8A700}">
      <dgm:prSet/>
      <dgm:spPr/>
      <dgm:t>
        <a:bodyPr/>
        <a:lstStyle/>
        <a:p>
          <a:endParaRPr lang="ru-RU"/>
        </a:p>
      </dgm:t>
    </dgm:pt>
    <dgm:pt modelId="{C13AA11E-51B6-C644-BBD9-7400A52E4B8E}">
      <dgm:prSet/>
      <dgm:spPr/>
      <dgm:t>
        <a:bodyPr/>
        <a:lstStyle/>
        <a:p>
          <a:r>
            <a:rPr lang="ru-RU"/>
            <a:t>Возможно, это решение близко к лучшему из того, что возможно сделать в этой задаче.</a:t>
          </a:r>
        </a:p>
      </dgm:t>
    </dgm:pt>
    <dgm:pt modelId="{1C065601-9D2F-2B4B-BA15-104266CE9369}" type="parTrans" cxnId="{55EAFB4F-E332-064C-983B-CBD3F84844BC}">
      <dgm:prSet/>
      <dgm:spPr/>
      <dgm:t>
        <a:bodyPr/>
        <a:lstStyle/>
        <a:p>
          <a:endParaRPr lang="ru-RU"/>
        </a:p>
      </dgm:t>
    </dgm:pt>
    <dgm:pt modelId="{74F273A6-FFDE-3F44-BF6C-68D6AB5A0719}" type="sibTrans" cxnId="{55EAFB4F-E332-064C-983B-CBD3F84844BC}">
      <dgm:prSet/>
      <dgm:spPr/>
      <dgm:t>
        <a:bodyPr/>
        <a:lstStyle/>
        <a:p>
          <a:endParaRPr lang="ru-RU"/>
        </a:p>
      </dgm:t>
    </dgm:pt>
    <dgm:pt modelId="{601F4473-43E0-CC49-B82E-14DD5575AE5C}">
      <dgm:prSet/>
      <dgm:spPr/>
      <dgm:t>
        <a:bodyPr/>
        <a:lstStyle/>
        <a:p>
          <a:r>
            <a:rPr lang="ru-RU"/>
            <a:t>Задача независимого множества принадлежит к большому классу задач, называемых </a:t>
          </a:r>
          <a:r>
            <a:rPr lang="en-US" i="1"/>
            <a:t>NP</a:t>
          </a:r>
          <a:r>
            <a:rPr lang="ru-RU" i="1"/>
            <a:t>-полными.</a:t>
          </a:r>
          <a:r>
            <a:rPr lang="ru-RU"/>
            <a:t> </a:t>
          </a:r>
        </a:p>
      </dgm:t>
    </dgm:pt>
    <dgm:pt modelId="{6ACE6A44-2438-E44C-A03A-B6CCD49984DF}" type="parTrans" cxnId="{017ED055-EE73-FC4C-83DC-325319DCF06F}">
      <dgm:prSet/>
      <dgm:spPr/>
      <dgm:t>
        <a:bodyPr/>
        <a:lstStyle/>
        <a:p>
          <a:endParaRPr lang="ru-RU"/>
        </a:p>
      </dgm:t>
    </dgm:pt>
    <dgm:pt modelId="{A3145C6E-12F6-334A-ADD9-AFD8C34C1A06}" type="sibTrans" cxnId="{017ED055-EE73-FC4C-83DC-325319DCF06F}">
      <dgm:prSet/>
      <dgm:spPr/>
      <dgm:t>
        <a:bodyPr/>
        <a:lstStyle/>
        <a:p>
          <a:endParaRPr lang="ru-RU"/>
        </a:p>
      </dgm:t>
    </dgm:pt>
    <dgm:pt modelId="{8E6D5A7D-646C-0149-AAE7-38B764A196DE}">
      <dgm:prSet/>
      <dgm:spPr/>
      <dgm:t>
        <a:bodyPr/>
        <a:lstStyle/>
        <a:p>
          <a:r>
            <a:rPr lang="ru-RU"/>
            <a:t>Ни для одной из этих задач не известен эффективный алгоритм решения, но все они эквивалентны в том смысле, что решение любой такой задачи будет точно подразумевать существование такого решения у всех.</a:t>
          </a:r>
        </a:p>
      </dgm:t>
    </dgm:pt>
    <dgm:pt modelId="{6E749977-EDDE-3946-9E9F-BD983EC41D4F}" type="parTrans" cxnId="{E1F2C7D0-9409-F946-BA9D-5338795F1B28}">
      <dgm:prSet/>
      <dgm:spPr/>
      <dgm:t>
        <a:bodyPr/>
        <a:lstStyle/>
        <a:p>
          <a:endParaRPr lang="ru-RU"/>
        </a:p>
      </dgm:t>
    </dgm:pt>
    <dgm:pt modelId="{132825E2-C26C-9D42-BDEF-C5249987E0D6}" type="sibTrans" cxnId="{E1F2C7D0-9409-F946-BA9D-5338795F1B28}">
      <dgm:prSet/>
      <dgm:spPr/>
      <dgm:t>
        <a:bodyPr/>
        <a:lstStyle/>
        <a:p>
          <a:endParaRPr lang="ru-RU"/>
        </a:p>
      </dgm:t>
    </dgm:pt>
    <dgm:pt modelId="{F6649532-7D5E-FD4F-9851-408B6718C51A}">
      <dgm:prSet/>
      <dgm:spPr/>
      <dgm:t>
        <a:bodyPr/>
        <a:lstStyle/>
        <a:p>
          <a:r>
            <a:rPr lang="ru-RU"/>
            <a:t>Можно ли сказать хоть что-нибудь положительное о сложности задачи независимого множества? </a:t>
          </a:r>
        </a:p>
      </dgm:t>
    </dgm:pt>
    <dgm:pt modelId="{6EA92996-9D9E-F946-AF19-B1619B051E40}" type="parTrans" cxnId="{FDD361D5-EE7D-3748-B1AC-9320C1BA421E}">
      <dgm:prSet/>
      <dgm:spPr/>
      <dgm:t>
        <a:bodyPr/>
        <a:lstStyle/>
        <a:p>
          <a:endParaRPr lang="ru-RU"/>
        </a:p>
      </dgm:t>
    </dgm:pt>
    <dgm:pt modelId="{BF6E4856-64E9-704D-B6B3-630E93401281}" type="sibTrans" cxnId="{FDD361D5-EE7D-3748-B1AC-9320C1BA421E}">
      <dgm:prSet/>
      <dgm:spPr/>
      <dgm:t>
        <a:bodyPr/>
        <a:lstStyle/>
        <a:p>
          <a:endParaRPr lang="ru-RU"/>
        </a:p>
      </dgm:t>
    </dgm:pt>
    <dgm:pt modelId="{80982D06-3479-3C4D-9B12-E7ADC0627C38}">
      <dgm:prSet/>
      <dgm:spPr/>
      <dgm:t>
        <a:bodyPr/>
        <a:lstStyle/>
        <a:p>
          <a:r>
            <a:rPr lang="ru-RU"/>
            <a:t>Если имеется граф </a:t>
          </a:r>
          <a:r>
            <a:rPr lang="en-US"/>
            <a:t>G </a:t>
          </a:r>
          <a:r>
            <a:rPr lang="ru-RU"/>
            <a:t>из 1000 узлов и мы захотим убедить вас в том, что он содержит независимое множество </a:t>
          </a:r>
          <a:r>
            <a:rPr lang="en-US"/>
            <a:t>S </a:t>
          </a:r>
          <a:r>
            <a:rPr lang="ru-RU"/>
            <a:t>с размером 100, сделать это будет несложно. Достаточно показать граф </a:t>
          </a:r>
          <a:r>
            <a:rPr lang="en-US"/>
            <a:t>G, </a:t>
          </a:r>
          <a:r>
            <a:rPr lang="ru-RU"/>
            <a:t>выделить узлы </a:t>
          </a:r>
          <a:r>
            <a:rPr lang="en-US"/>
            <a:t>S </a:t>
          </a:r>
          <a:r>
            <a:rPr lang="ru-RU"/>
            <a:t>красным цветом и позволить вам убедиться в том, что никакие два узла не соединены ребром. </a:t>
          </a:r>
        </a:p>
      </dgm:t>
    </dgm:pt>
    <dgm:pt modelId="{EADA56A8-9135-5542-A3C0-C8FC05996F55}" type="parTrans" cxnId="{F4FE8F55-08FC-E648-8AE3-38B6C909E8F7}">
      <dgm:prSet/>
      <dgm:spPr/>
      <dgm:t>
        <a:bodyPr/>
        <a:lstStyle/>
        <a:p>
          <a:endParaRPr lang="ru-RU"/>
        </a:p>
      </dgm:t>
    </dgm:pt>
    <dgm:pt modelId="{A078B3DE-7AAA-A442-80F8-FB79B740BF3A}" type="sibTrans" cxnId="{F4FE8F55-08FC-E648-8AE3-38B6C909E8F7}">
      <dgm:prSet/>
      <dgm:spPr/>
      <dgm:t>
        <a:bodyPr/>
        <a:lstStyle/>
        <a:p>
          <a:endParaRPr lang="ru-RU"/>
        </a:p>
      </dgm:t>
    </dgm:pt>
    <dgm:pt modelId="{9908EA2E-876D-284F-A47F-61A8F04A30E4}">
      <dgm:prSet/>
      <dgm:spPr/>
      <dgm:t>
        <a:bodyPr/>
        <a:lstStyle/>
        <a:p>
          <a:r>
            <a:rPr lang="ru-RU"/>
            <a:t>Между проверкой того, что множество действительно является большим независимым, и непосредственным поиском большого независимого множества существует огромная разница.</a:t>
          </a:r>
        </a:p>
      </dgm:t>
    </dgm:pt>
    <dgm:pt modelId="{F3FBEDE6-42E5-4849-AA9A-477BCCE191FA}" type="parTrans" cxnId="{2F113552-DB12-CC4E-97D0-A5DD6F619AF8}">
      <dgm:prSet/>
      <dgm:spPr/>
      <dgm:t>
        <a:bodyPr/>
        <a:lstStyle/>
        <a:p>
          <a:endParaRPr lang="ru-RU"/>
        </a:p>
      </dgm:t>
    </dgm:pt>
    <dgm:pt modelId="{DE399D05-2E6D-DD4C-945E-F3E1BFF5A1B1}" type="sibTrans" cxnId="{2F113552-DB12-CC4E-97D0-A5DD6F619AF8}">
      <dgm:prSet/>
      <dgm:spPr/>
      <dgm:t>
        <a:bodyPr/>
        <a:lstStyle/>
        <a:p>
          <a:endParaRPr lang="ru-RU"/>
        </a:p>
      </dgm:t>
    </dgm:pt>
    <dgm:pt modelId="{8769859C-938C-6945-993E-087A27E0B428}">
      <dgm:prSet/>
      <dgm:spPr/>
      <dgm:t>
        <a:bodyPr/>
        <a:lstStyle/>
        <a:p>
          <a:r>
            <a:rPr lang="ru-RU"/>
            <a:t>В некоторых особо сложных задачах даже может не быть простого способа «проверки» решений в этом смысле </a:t>
          </a:r>
        </a:p>
      </dgm:t>
    </dgm:pt>
    <dgm:pt modelId="{7425C90C-F6D9-A245-A9B3-E2E5DE9E803E}" type="parTrans" cxnId="{38528A9D-1236-CD48-BA56-49A84B0A0A53}">
      <dgm:prSet/>
      <dgm:spPr/>
      <dgm:t>
        <a:bodyPr/>
        <a:lstStyle/>
        <a:p>
          <a:endParaRPr lang="ru-RU"/>
        </a:p>
      </dgm:t>
    </dgm:pt>
    <dgm:pt modelId="{B719B414-4475-F74F-89FA-4EB3245C0B47}" type="sibTrans" cxnId="{38528A9D-1236-CD48-BA56-49A84B0A0A53}">
      <dgm:prSet/>
      <dgm:spPr/>
      <dgm:t>
        <a:bodyPr/>
        <a:lstStyle/>
        <a:p>
          <a:endParaRPr lang="ru-RU"/>
        </a:p>
      </dgm:t>
    </dgm:pt>
    <dgm:pt modelId="{381A8708-EB0A-274A-A859-37247E185B86}" type="pres">
      <dgm:prSet presAssocID="{E79C9C68-D856-654E-A289-3DDF2C2FE588}" presName="linear" presStyleCnt="0">
        <dgm:presLayoutVars>
          <dgm:animLvl val="lvl"/>
          <dgm:resizeHandles val="exact"/>
        </dgm:presLayoutVars>
      </dgm:prSet>
      <dgm:spPr/>
    </dgm:pt>
    <dgm:pt modelId="{566F4873-A7BF-3C41-BC29-F1965046FCB8}" type="pres">
      <dgm:prSet presAssocID="{F51F19A3-644E-584F-AE0B-2F6F628EF27C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1F41D0C-508D-B849-BF2C-EA2415EA2C0A}" type="pres">
      <dgm:prSet presAssocID="{F51F19A3-644E-584F-AE0B-2F6F628EF27C}" presName="childText" presStyleLbl="revTx" presStyleIdx="0" presStyleCnt="3">
        <dgm:presLayoutVars>
          <dgm:bulletEnabled val="1"/>
        </dgm:presLayoutVars>
      </dgm:prSet>
      <dgm:spPr/>
    </dgm:pt>
    <dgm:pt modelId="{191DA7C7-AC46-224D-A315-3497C5C65521}" type="pres">
      <dgm:prSet presAssocID="{601F4473-43E0-CC49-B82E-14DD5575AE5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E5B0A4A8-CC1C-9843-B1B0-4348E81FCA04}" type="pres">
      <dgm:prSet presAssocID="{601F4473-43E0-CC49-B82E-14DD5575AE5C}" presName="childText" presStyleLbl="revTx" presStyleIdx="1" presStyleCnt="3">
        <dgm:presLayoutVars>
          <dgm:bulletEnabled val="1"/>
        </dgm:presLayoutVars>
      </dgm:prSet>
      <dgm:spPr/>
    </dgm:pt>
    <dgm:pt modelId="{65DF558C-B8FC-D446-AD17-4BC903895F22}" type="pres">
      <dgm:prSet presAssocID="{F6649532-7D5E-FD4F-9851-408B6718C51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B2393304-7513-244C-9075-C6E93E2B835A}" type="pres">
      <dgm:prSet presAssocID="{F6649532-7D5E-FD4F-9851-408B6718C51A}" presName="childText" presStyleLbl="revTx" presStyleIdx="2" presStyleCnt="3">
        <dgm:presLayoutVars>
          <dgm:bulletEnabled val="1"/>
        </dgm:presLayoutVars>
      </dgm:prSet>
      <dgm:spPr/>
    </dgm:pt>
    <dgm:pt modelId="{246A149A-603E-2C45-A1FE-7331CB627121}" type="pres">
      <dgm:prSet presAssocID="{8769859C-938C-6945-993E-087A27E0B428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FB9ED213-B777-1445-AF8B-A7A810FED6AC}" type="presOf" srcId="{F51F19A3-644E-584F-AE0B-2F6F628EF27C}" destId="{566F4873-A7BF-3C41-BC29-F1965046FCB8}" srcOrd="0" destOrd="0" presId="urn:microsoft.com/office/officeart/2005/8/layout/vList2"/>
    <dgm:cxn modelId="{A3F36E16-5EFA-C445-B074-D42CD6404369}" type="presOf" srcId="{601F4473-43E0-CC49-B82E-14DD5575AE5C}" destId="{191DA7C7-AC46-224D-A315-3497C5C65521}" srcOrd="0" destOrd="0" presId="urn:microsoft.com/office/officeart/2005/8/layout/vList2"/>
    <dgm:cxn modelId="{AB561E1A-598D-034C-BBDD-513230DF3C68}" type="presOf" srcId="{E79C9C68-D856-654E-A289-3DDF2C2FE588}" destId="{381A8708-EB0A-274A-A859-37247E185B86}" srcOrd="0" destOrd="0" presId="urn:microsoft.com/office/officeart/2005/8/layout/vList2"/>
    <dgm:cxn modelId="{58EEFB45-DB93-3842-BFC0-D66AAE5F2FF3}" type="presOf" srcId="{8E6D5A7D-646C-0149-AAE7-38B764A196DE}" destId="{E5B0A4A8-CC1C-9843-B1B0-4348E81FCA04}" srcOrd="0" destOrd="0" presId="urn:microsoft.com/office/officeart/2005/8/layout/vList2"/>
    <dgm:cxn modelId="{55EAFB4F-E332-064C-983B-CBD3F84844BC}" srcId="{F51F19A3-644E-584F-AE0B-2F6F628EF27C}" destId="{C13AA11E-51B6-C644-BBD9-7400A52E4B8E}" srcOrd="1" destOrd="0" parTransId="{1C065601-9D2F-2B4B-BA15-104266CE9369}" sibTransId="{74F273A6-FFDE-3F44-BF6C-68D6AB5A0719}"/>
    <dgm:cxn modelId="{2F113552-DB12-CC4E-97D0-A5DD6F619AF8}" srcId="{F6649532-7D5E-FD4F-9851-408B6718C51A}" destId="{9908EA2E-876D-284F-A47F-61A8F04A30E4}" srcOrd="1" destOrd="0" parTransId="{F3FBEDE6-42E5-4849-AA9A-477BCCE191FA}" sibTransId="{DE399D05-2E6D-DD4C-945E-F3E1BFF5A1B1}"/>
    <dgm:cxn modelId="{F4FE8F55-08FC-E648-8AE3-38B6C909E8F7}" srcId="{F6649532-7D5E-FD4F-9851-408B6718C51A}" destId="{80982D06-3479-3C4D-9B12-E7ADC0627C38}" srcOrd="0" destOrd="0" parTransId="{EADA56A8-9135-5542-A3C0-C8FC05996F55}" sibTransId="{A078B3DE-7AAA-A442-80F8-FB79B740BF3A}"/>
    <dgm:cxn modelId="{017ED055-EE73-FC4C-83DC-325319DCF06F}" srcId="{E79C9C68-D856-654E-A289-3DDF2C2FE588}" destId="{601F4473-43E0-CC49-B82E-14DD5575AE5C}" srcOrd="1" destOrd="0" parTransId="{6ACE6A44-2438-E44C-A03A-B6CCD49984DF}" sibTransId="{A3145C6E-12F6-334A-ADD9-AFD8C34C1A06}"/>
    <dgm:cxn modelId="{E9995763-58F5-6749-807D-00FDA4523C0E}" type="presOf" srcId="{F6649532-7D5E-FD4F-9851-408B6718C51A}" destId="{65DF558C-B8FC-D446-AD17-4BC903895F22}" srcOrd="0" destOrd="0" presId="urn:microsoft.com/office/officeart/2005/8/layout/vList2"/>
    <dgm:cxn modelId="{CB061F70-9E47-A24F-BAE7-AEEE2F345084}" type="presOf" srcId="{AA5F20DE-6F44-774F-9913-D878B268CC70}" destId="{11F41D0C-508D-B849-BF2C-EA2415EA2C0A}" srcOrd="0" destOrd="0" presId="urn:microsoft.com/office/officeart/2005/8/layout/vList2"/>
    <dgm:cxn modelId="{CAE5387C-03D8-1E42-B2EC-0159CB98CC97}" type="presOf" srcId="{9908EA2E-876D-284F-A47F-61A8F04A30E4}" destId="{B2393304-7513-244C-9075-C6E93E2B835A}" srcOrd="0" destOrd="1" presId="urn:microsoft.com/office/officeart/2005/8/layout/vList2"/>
    <dgm:cxn modelId="{38528A9D-1236-CD48-BA56-49A84B0A0A53}" srcId="{E79C9C68-D856-654E-A289-3DDF2C2FE588}" destId="{8769859C-938C-6945-993E-087A27E0B428}" srcOrd="3" destOrd="0" parTransId="{7425C90C-F6D9-A245-A9B3-E2E5DE9E803E}" sibTransId="{B719B414-4475-F74F-89FA-4EB3245C0B47}"/>
    <dgm:cxn modelId="{416A31B2-759C-E54F-8F95-2D6784A8A700}" srcId="{F51F19A3-644E-584F-AE0B-2F6F628EF27C}" destId="{AA5F20DE-6F44-774F-9913-D878B268CC70}" srcOrd="0" destOrd="0" parTransId="{A8E0E3C5-0656-1F44-9F04-AA3155368AB4}" sibTransId="{A6461645-FB9F-6047-9726-2B475B1F9E9D}"/>
    <dgm:cxn modelId="{31F11CB4-2BD6-2744-A53C-DE5942A630F8}" srcId="{E79C9C68-D856-654E-A289-3DDF2C2FE588}" destId="{F51F19A3-644E-584F-AE0B-2F6F628EF27C}" srcOrd="0" destOrd="0" parTransId="{E99DA5D1-69E1-5445-9788-18A526B93AAC}" sibTransId="{53E440DE-AE4E-5847-ABF9-55DD0404804F}"/>
    <dgm:cxn modelId="{AF6EA4C9-1E71-2140-A1B7-5009C8532DBD}" type="presOf" srcId="{C13AA11E-51B6-C644-BBD9-7400A52E4B8E}" destId="{11F41D0C-508D-B849-BF2C-EA2415EA2C0A}" srcOrd="0" destOrd="1" presId="urn:microsoft.com/office/officeart/2005/8/layout/vList2"/>
    <dgm:cxn modelId="{E799A6CC-2905-FE4C-B1C1-C887E7E0661E}" type="presOf" srcId="{80982D06-3479-3C4D-9B12-E7ADC0627C38}" destId="{B2393304-7513-244C-9075-C6E93E2B835A}" srcOrd="0" destOrd="0" presId="urn:microsoft.com/office/officeart/2005/8/layout/vList2"/>
    <dgm:cxn modelId="{E1F2C7D0-9409-F946-BA9D-5338795F1B28}" srcId="{601F4473-43E0-CC49-B82E-14DD5575AE5C}" destId="{8E6D5A7D-646C-0149-AAE7-38B764A196DE}" srcOrd="0" destOrd="0" parTransId="{6E749977-EDDE-3946-9E9F-BD983EC41D4F}" sibTransId="{132825E2-C26C-9D42-BDEF-C5249987E0D6}"/>
    <dgm:cxn modelId="{FDD361D5-EE7D-3748-B1AC-9320C1BA421E}" srcId="{E79C9C68-D856-654E-A289-3DDF2C2FE588}" destId="{F6649532-7D5E-FD4F-9851-408B6718C51A}" srcOrd="2" destOrd="0" parTransId="{6EA92996-9D9E-F946-AF19-B1619B051E40}" sibTransId="{BF6E4856-64E9-704D-B6B3-630E93401281}"/>
    <dgm:cxn modelId="{455DD3E8-313A-8840-9B7B-365E8B304139}" type="presOf" srcId="{8769859C-938C-6945-993E-087A27E0B428}" destId="{246A149A-603E-2C45-A1FE-7331CB627121}" srcOrd="0" destOrd="0" presId="urn:microsoft.com/office/officeart/2005/8/layout/vList2"/>
    <dgm:cxn modelId="{BA5A9BB7-B562-0449-884F-CD7CD29D8C34}" type="presParOf" srcId="{381A8708-EB0A-274A-A859-37247E185B86}" destId="{566F4873-A7BF-3C41-BC29-F1965046FCB8}" srcOrd="0" destOrd="0" presId="urn:microsoft.com/office/officeart/2005/8/layout/vList2"/>
    <dgm:cxn modelId="{0705CE9B-6E2E-8748-9A08-0C332554400D}" type="presParOf" srcId="{381A8708-EB0A-274A-A859-37247E185B86}" destId="{11F41D0C-508D-B849-BF2C-EA2415EA2C0A}" srcOrd="1" destOrd="0" presId="urn:microsoft.com/office/officeart/2005/8/layout/vList2"/>
    <dgm:cxn modelId="{AD7A1296-6D4A-F849-8FC0-571067B0B947}" type="presParOf" srcId="{381A8708-EB0A-274A-A859-37247E185B86}" destId="{191DA7C7-AC46-224D-A315-3497C5C65521}" srcOrd="2" destOrd="0" presId="urn:microsoft.com/office/officeart/2005/8/layout/vList2"/>
    <dgm:cxn modelId="{EBFC87D1-A9CA-EA43-9825-7DDC4D124976}" type="presParOf" srcId="{381A8708-EB0A-274A-A859-37247E185B86}" destId="{E5B0A4A8-CC1C-9843-B1B0-4348E81FCA04}" srcOrd="3" destOrd="0" presId="urn:microsoft.com/office/officeart/2005/8/layout/vList2"/>
    <dgm:cxn modelId="{FE1FB170-DCDF-8848-97F2-3DBBD1B4F2FE}" type="presParOf" srcId="{381A8708-EB0A-274A-A859-37247E185B86}" destId="{65DF558C-B8FC-D446-AD17-4BC903895F22}" srcOrd="4" destOrd="0" presId="urn:microsoft.com/office/officeart/2005/8/layout/vList2"/>
    <dgm:cxn modelId="{93D160A2-4994-FF44-869E-C2C5DE5FD4F7}" type="presParOf" srcId="{381A8708-EB0A-274A-A859-37247E185B86}" destId="{B2393304-7513-244C-9075-C6E93E2B835A}" srcOrd="5" destOrd="0" presId="urn:microsoft.com/office/officeart/2005/8/layout/vList2"/>
    <dgm:cxn modelId="{7FBACB32-8210-8E49-8D0E-8F5ED1AB0576}" type="presParOf" srcId="{381A8708-EB0A-274A-A859-37247E185B86}" destId="{246A149A-603E-2C45-A1FE-7331CB627121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6F4873-A7BF-3C41-BC29-F1965046FCB8}">
      <dsp:nvSpPr>
        <dsp:cNvPr id="0" name=""/>
        <dsp:cNvSpPr/>
      </dsp:nvSpPr>
      <dsp:spPr>
        <a:xfrm>
          <a:off x="0" y="238585"/>
          <a:ext cx="8047517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/>
            <a:t>Эффективные алгоритмы для ее решения неизвестны, и есть гипотеза, что такого алгоритма не существует. </a:t>
          </a:r>
        </a:p>
      </dsp:txBody>
      <dsp:txXfrm>
        <a:off x="33012" y="271597"/>
        <a:ext cx="7981493" cy="610236"/>
      </dsp:txXfrm>
    </dsp:sp>
    <dsp:sp modelId="{11F41D0C-508D-B849-BF2C-EA2415EA2C0A}">
      <dsp:nvSpPr>
        <dsp:cNvPr id="0" name=""/>
        <dsp:cNvSpPr/>
      </dsp:nvSpPr>
      <dsp:spPr>
        <a:xfrm>
          <a:off x="0" y="914845"/>
          <a:ext cx="8047517" cy="8093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509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/>
            <a:t>Очевидный алгоритм, действующий методом «грубой силы», перебирает все подмножества узлов, проверяет каждое из них на независимость, после чего запоминает самое большое из обнаруженных подмножеств.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/>
            <a:t>Возможно, это решение близко к лучшему из того, что возможно сделать в этой задаче.</a:t>
          </a:r>
        </a:p>
      </dsp:txBody>
      <dsp:txXfrm>
        <a:off x="0" y="914845"/>
        <a:ext cx="8047517" cy="809370"/>
      </dsp:txXfrm>
    </dsp:sp>
    <dsp:sp modelId="{191DA7C7-AC46-224D-A315-3497C5C65521}">
      <dsp:nvSpPr>
        <dsp:cNvPr id="0" name=""/>
        <dsp:cNvSpPr/>
      </dsp:nvSpPr>
      <dsp:spPr>
        <a:xfrm>
          <a:off x="0" y="1724215"/>
          <a:ext cx="8047517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Задача независимого множества принадлежит к большому классу задач, называемых </a:t>
          </a:r>
          <a:r>
            <a:rPr lang="en-US" sz="1700" i="1" kern="1200"/>
            <a:t>NP</a:t>
          </a:r>
          <a:r>
            <a:rPr lang="ru-RU" sz="1700" i="1" kern="1200"/>
            <a:t>-полными.</a:t>
          </a:r>
          <a:r>
            <a:rPr lang="ru-RU" sz="1700" kern="1200"/>
            <a:t> </a:t>
          </a:r>
        </a:p>
      </dsp:txBody>
      <dsp:txXfrm>
        <a:off x="33012" y="1757227"/>
        <a:ext cx="7981493" cy="610236"/>
      </dsp:txXfrm>
    </dsp:sp>
    <dsp:sp modelId="{E5B0A4A8-CC1C-9843-B1B0-4348E81FCA04}">
      <dsp:nvSpPr>
        <dsp:cNvPr id="0" name=""/>
        <dsp:cNvSpPr/>
      </dsp:nvSpPr>
      <dsp:spPr>
        <a:xfrm>
          <a:off x="0" y="2400475"/>
          <a:ext cx="8047517" cy="598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509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/>
            <a:t>Ни для одной из этих задач не известен эффективный алгоритм решения, но все они эквивалентны в том смысле, что решение любой такой задачи будет точно подразумевать существование такого решения у всех.</a:t>
          </a:r>
        </a:p>
      </dsp:txBody>
      <dsp:txXfrm>
        <a:off x="0" y="2400475"/>
        <a:ext cx="8047517" cy="598230"/>
      </dsp:txXfrm>
    </dsp:sp>
    <dsp:sp modelId="{65DF558C-B8FC-D446-AD17-4BC903895F22}">
      <dsp:nvSpPr>
        <dsp:cNvPr id="0" name=""/>
        <dsp:cNvSpPr/>
      </dsp:nvSpPr>
      <dsp:spPr>
        <a:xfrm>
          <a:off x="0" y="2998704"/>
          <a:ext cx="8047517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Можно ли сказать хоть что-нибудь положительное о сложности задачи независимого множества? </a:t>
          </a:r>
        </a:p>
      </dsp:txBody>
      <dsp:txXfrm>
        <a:off x="33012" y="3031716"/>
        <a:ext cx="7981493" cy="610236"/>
      </dsp:txXfrm>
    </dsp:sp>
    <dsp:sp modelId="{B2393304-7513-244C-9075-C6E93E2B835A}">
      <dsp:nvSpPr>
        <dsp:cNvPr id="0" name=""/>
        <dsp:cNvSpPr/>
      </dsp:nvSpPr>
      <dsp:spPr>
        <a:xfrm>
          <a:off x="0" y="3674964"/>
          <a:ext cx="8047517" cy="1002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5509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/>
            <a:t>Если имеется граф </a:t>
          </a:r>
          <a:r>
            <a:rPr lang="en-US" sz="1300" kern="1200"/>
            <a:t>G </a:t>
          </a:r>
          <a:r>
            <a:rPr lang="ru-RU" sz="1300" kern="1200"/>
            <a:t>из 1000 узлов и мы захотим убедить вас в том, что он содержит независимое множество </a:t>
          </a:r>
          <a:r>
            <a:rPr lang="en-US" sz="1300" kern="1200"/>
            <a:t>S </a:t>
          </a:r>
          <a:r>
            <a:rPr lang="ru-RU" sz="1300" kern="1200"/>
            <a:t>с размером 100, сделать это будет несложно. Достаточно показать граф </a:t>
          </a:r>
          <a:r>
            <a:rPr lang="en-US" sz="1300" kern="1200"/>
            <a:t>G, </a:t>
          </a:r>
          <a:r>
            <a:rPr lang="ru-RU" sz="1300" kern="1200"/>
            <a:t>выделить узлы </a:t>
          </a:r>
          <a:r>
            <a:rPr lang="en-US" sz="1300" kern="1200"/>
            <a:t>S </a:t>
          </a:r>
          <a:r>
            <a:rPr lang="ru-RU" sz="1300" kern="1200"/>
            <a:t>красным цветом и позволить вам убедиться в том, что никакие два узла не соединены ребром. 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/>
            <a:t>Между проверкой того, что множество действительно является большим независимым, и непосредственным поиском большого независимого множества существует огромная разница.</a:t>
          </a:r>
        </a:p>
      </dsp:txBody>
      <dsp:txXfrm>
        <a:off x="0" y="3674964"/>
        <a:ext cx="8047517" cy="1002915"/>
      </dsp:txXfrm>
    </dsp:sp>
    <dsp:sp modelId="{246A149A-603E-2C45-A1FE-7331CB627121}">
      <dsp:nvSpPr>
        <dsp:cNvPr id="0" name=""/>
        <dsp:cNvSpPr/>
      </dsp:nvSpPr>
      <dsp:spPr>
        <a:xfrm>
          <a:off x="0" y="4677879"/>
          <a:ext cx="8047517" cy="6762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В некоторых особо сложных задачах даже может не быть простого способа «проверки» решений в этом смысле </a:t>
          </a:r>
        </a:p>
      </dsp:txBody>
      <dsp:txXfrm>
        <a:off x="33012" y="4710891"/>
        <a:ext cx="7981493" cy="6102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3917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8712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596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9889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1472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2533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3254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926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602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8109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2057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51541-4E41-5244-B337-927E1F15D341}" type="datetimeFigureOut">
              <a:rPr lang="ru-RU" smtClean="0"/>
              <a:t>03.03.2026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2759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file:////Users/vladimirsudakov/work/lab_python/algo-lab/media/image4.jpeg" TargetMode="Externa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file:////Users/vladimirsudakov/work/lab_python/algo-lab/media/image5.jpeg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768C50-7818-694C-99B1-91BA112209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Теория алгоритмов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2BA6578-09F3-BC4E-932E-8ADB8F2CC9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742660"/>
            <a:ext cx="6858000" cy="151514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Практика</a:t>
            </a:r>
          </a:p>
          <a:p>
            <a:endParaRPr lang="ru-RU" dirty="0"/>
          </a:p>
          <a:p>
            <a:r>
              <a:rPr lang="ru-RU" dirty="0"/>
              <a:t>Владимир Анатольевич Судаков</a:t>
            </a:r>
          </a:p>
          <a:p>
            <a:r>
              <a:rPr lang="ru-RU" dirty="0"/>
              <a:t>2026 г.</a:t>
            </a:r>
          </a:p>
        </p:txBody>
      </p:sp>
    </p:spTree>
    <p:extLst>
      <p:ext uri="{BB962C8B-B14F-4D97-AF65-F5344CB8AC3E}">
        <p14:creationId xmlns:p14="http://schemas.microsoft.com/office/powerpoint/2010/main" val="646434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D68FCE-2EB6-2746-A6F0-5D5A49B88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81621"/>
          </a:xfrm>
        </p:spPr>
        <p:txBody>
          <a:bodyPr>
            <a:normAutofit fontScale="90000"/>
          </a:bodyPr>
          <a:lstStyle/>
          <a:p>
            <a:r>
              <a:rPr lang="ru-RU" dirty="0"/>
              <a:t>Правила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2EC740-327B-F845-BB6A-31794A0F2C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46748"/>
            <a:ext cx="7886700" cy="5678906"/>
          </a:xfrm>
        </p:spPr>
        <p:txBody>
          <a:bodyPr>
            <a:normAutofit/>
          </a:bodyPr>
          <a:lstStyle/>
          <a:p>
            <a:r>
              <a:rPr lang="ru-RU" sz="2400" dirty="0"/>
              <a:t>Решение домашнего задания (ДЗ) нужно приносить на следующее занятие. Если решение – это программа, то присылайте ссылку на </a:t>
            </a:r>
            <a:r>
              <a:rPr lang="en-US" sz="2400" dirty="0" err="1"/>
              <a:t>github</a:t>
            </a:r>
            <a:r>
              <a:rPr lang="en-US" sz="2400" dirty="0"/>
              <a:t>.</a:t>
            </a:r>
            <a:endParaRPr lang="ru-RU" sz="2400" dirty="0"/>
          </a:p>
          <a:p>
            <a:r>
              <a:rPr lang="ru-RU" sz="2400" dirty="0"/>
              <a:t>Лучше не полное решение ДЗ, чем его отсутствие. </a:t>
            </a:r>
          </a:p>
          <a:p>
            <a:r>
              <a:rPr lang="ru-RU" sz="2400" dirty="0"/>
              <a:t>Можно и нужно спрашивать по почте и на занятии. Лучше если вопрос будет коротким. </a:t>
            </a:r>
          </a:p>
          <a:p>
            <a:r>
              <a:rPr lang="ru-RU" sz="2400" dirty="0"/>
              <a:t>У нас будут контрольные, но когда – заранее неизвестно</a:t>
            </a:r>
          </a:p>
          <a:p>
            <a:r>
              <a:rPr lang="ru-RU" sz="2400" dirty="0"/>
              <a:t>Опоздание больше 15 минут – пропуск.</a:t>
            </a:r>
          </a:p>
          <a:p>
            <a:r>
              <a:rPr lang="ru-RU" sz="2400" dirty="0"/>
              <a:t>За активность/ответы на занятиях будут дополнительные плюсы.</a:t>
            </a:r>
          </a:p>
          <a:p>
            <a:r>
              <a:rPr lang="ru-RU" sz="2400" dirty="0"/>
              <a:t>Вовремя решенные ДЗ, контрольные без ошибок, и не более 2-х пропусков – автомат на экзамене </a:t>
            </a:r>
          </a:p>
        </p:txBody>
      </p:sp>
    </p:spTree>
    <p:extLst>
      <p:ext uri="{BB962C8B-B14F-4D97-AF65-F5344CB8AC3E}">
        <p14:creationId xmlns:p14="http://schemas.microsoft.com/office/powerpoint/2010/main" val="1111265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DA5D25-E7B8-B242-9FA5-5D84BDDF8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Давайте познакомимся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ACE4E4-30C6-6F44-BD55-26F0ED167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Дано: </a:t>
            </a:r>
          </a:p>
          <a:p>
            <a:pPr lvl="1"/>
            <a:r>
              <a:rPr lang="ru-RU" dirty="0"/>
              <a:t>список группы ФИО через пробел по строкам</a:t>
            </a:r>
          </a:p>
          <a:p>
            <a:r>
              <a:rPr lang="ru-RU" dirty="0"/>
              <a:t>Требуется найти повторения имен:</a:t>
            </a:r>
          </a:p>
          <a:p>
            <a:pPr lvl="1"/>
            <a:r>
              <a:rPr lang="ru-RU" dirty="0"/>
              <a:t>вывести  по строкам ФИО&lt;пробел&gt;&lt;число повторений имени&gt;</a:t>
            </a:r>
          </a:p>
          <a:p>
            <a:r>
              <a:rPr lang="ru-RU" dirty="0"/>
              <a:t>Какая группа «хорошая»?</a:t>
            </a:r>
          </a:p>
          <a:p>
            <a:r>
              <a:rPr lang="ru-RU" dirty="0"/>
              <a:t>Давайте сравним решения (и Ваши и LLM):</a:t>
            </a:r>
          </a:p>
          <a:p>
            <a:pPr lvl="1"/>
            <a:r>
              <a:rPr lang="ru-RU" dirty="0"/>
              <a:t>по каким метрикам будем сравнивать?</a:t>
            </a:r>
          </a:p>
          <a:p>
            <a:r>
              <a:rPr lang="ru-RU" dirty="0"/>
              <a:t>Какая LLM хорошая? 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1444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A9C83F-49E1-D245-83B0-FFAD644AB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З</a:t>
            </a:r>
            <a:r>
              <a:rPr lang="ru-RU" dirty="0" err="1"/>
              <a:t>адача</a:t>
            </a:r>
            <a:r>
              <a:rPr lang="ru-RU" dirty="0"/>
              <a:t> о </a:t>
            </a:r>
            <a:r>
              <a:rPr lang="ru-RU" dirty="0" err="1"/>
              <a:t>паросочетаниях</a:t>
            </a:r>
            <a:r>
              <a:rPr lang="ru-RU" dirty="0"/>
              <a:t> </a:t>
            </a:r>
            <a:br>
              <a:rPr lang="ru-RU" dirty="0"/>
            </a:br>
            <a:r>
              <a:rPr lang="ru-RU" dirty="0"/>
              <a:t>(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stable matching problem</a:t>
            </a:r>
            <a:r>
              <a:rPr lang="ru-RU" dirty="0"/>
              <a:t>)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C87A7B-D3DB-A34F-8FB7-DAAE6DCDA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0568" y="2232836"/>
            <a:ext cx="5342864" cy="3561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758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DF6495-50C0-FC42-803E-51667E601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Подбор больниц для студентов медицинских вузов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C2D0BD-CEDC-C248-A053-C220E82AC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Цель.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Имея набор предпочтений среди больниц и студентов медицинских вузов, разработать процесс приема.</a:t>
            </a:r>
          </a:p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Неустойчивая пара.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Больница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и студент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образуют </a:t>
            </a:r>
            <a:r>
              <a:rPr lang="ru-RU" dirty="0">
                <a:solidFill>
                  <a:srgbClr val="79221B"/>
                </a:solidFill>
                <a:effectLst/>
                <a:latin typeface="Helvetica" pitchFamily="2" charset="0"/>
              </a:rPr>
              <a:t>неустойчивую пару,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если оба: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отдает предпочтение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перед одним из принятых студентов. </a:t>
            </a:r>
            <a:r>
              <a:rPr lang="ru-RU" dirty="0" err="1">
                <a:solidFill>
                  <a:srgbClr val="000000"/>
                </a:solidFill>
                <a:effectLst/>
                <a:latin typeface="Helvetica" pitchFamily="2" charset="0"/>
              </a:rPr>
              <a:t>s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 отдает предпочтение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перед назначенной больницей.</a:t>
            </a:r>
          </a:p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Стабильное распределение.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Распределение без нестабильных пар. Естественное и желательное состояние.</a:t>
            </a:r>
          </a:p>
          <a:p>
            <a:endParaRPr lang="ru-RU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endParaRPr lang="ru-RU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4100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379A3A-CC9A-2541-82AF-5E143D228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9ED9ED5-63B1-9F4D-97EC-8C02DF07C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Входные данные: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множество из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n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больниц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и множество из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n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студентов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(</a:t>
            </a:r>
            <a:r>
              <a:rPr lang="en" dirty="0" err="1">
                <a:solidFill>
                  <a:srgbClr val="000000"/>
                </a:solidFill>
                <a:effectLst/>
                <a:latin typeface="Helvetica" pitchFamily="2" charset="0"/>
              </a:rPr>
              <a:t>п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ока считаем, что больница берет одного только студента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).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Каждая больница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ранжирует студентов. Каждый студент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ранжирует больницы.</a:t>
            </a: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640EB8A-355D-8A4B-9D0E-17AD84CFC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031" y="4264814"/>
            <a:ext cx="6303778" cy="222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220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022990-BA47-B649-B2C6-E8F49B53C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Идеальное </a:t>
            </a:r>
            <a:r>
              <a:rPr lang="ru-RU" dirty="0" err="1"/>
              <a:t>паросочетание</a:t>
            </a:r>
            <a:endParaRPr lang="ru-RU" dirty="0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0C4EBEB0-6E60-5F4A-8962-1A41A0EE7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3029744"/>
            <a:ext cx="78867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885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815979-3F2E-F347-B631-534326851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Нестабильные пары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56DC12B6-58F6-6541-BBE7-BE967D9CD8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2883939"/>
            <a:ext cx="7886700" cy="223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672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30303-7CC7-8549-BD49-6E354194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666232"/>
          </a:xfrm>
        </p:spPr>
        <p:txBody>
          <a:bodyPr>
            <a:normAutofit fontScale="90000"/>
          </a:bodyPr>
          <a:lstStyle/>
          <a:p>
            <a:r>
              <a:rPr lang="ru-RU" dirty="0"/>
              <a:t>Тест 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223BED-C0AB-C349-BFE3-5E5E13EF3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45141"/>
            <a:ext cx="7886700" cy="2980292"/>
          </a:xfrm>
        </p:spPr>
        <p:txBody>
          <a:bodyPr/>
          <a:lstStyle/>
          <a:p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Какая пара является неустойчивой в </a:t>
            </a:r>
            <a:r>
              <a:rPr lang="ru-RU" dirty="0" err="1">
                <a:solidFill>
                  <a:srgbClr val="000000"/>
                </a:solidFill>
                <a:effectLst/>
                <a:latin typeface="Helvetica" pitchFamily="2" charset="0"/>
              </a:rPr>
              <a:t>паросочетании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 {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A–X, B–Z, C–Y }?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A.</a:t>
            </a:r>
            <a:r>
              <a:rPr lang="en" b="1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A–Y.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B.</a:t>
            </a:r>
            <a:r>
              <a:rPr lang="en" b="1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B–X.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C.</a:t>
            </a:r>
            <a:r>
              <a:rPr lang="en" b="1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B–Z.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D.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Ни один из перечисленных вариантов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.</a:t>
            </a: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D0828D-4189-D744-8D0D-B098C8907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65" y="4426449"/>
            <a:ext cx="7729870" cy="198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83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CDF437-0834-0541-985B-72E41B888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Домашнее задание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723F119-0832-2743-8CE4-4934E88CB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Напишите программу которая определяет является ли </a:t>
            </a:r>
            <a:r>
              <a:rPr lang="ru-RU" dirty="0" err="1"/>
              <a:t>паросочетание</a:t>
            </a:r>
            <a:r>
              <a:rPr lang="ru-RU" dirty="0"/>
              <a:t> устойчивым</a:t>
            </a:r>
          </a:p>
          <a:p>
            <a:r>
              <a:rPr lang="ru-RU" dirty="0"/>
              <a:t>Вход – таблицы предпочтений и </a:t>
            </a:r>
            <a:r>
              <a:rPr lang="ru-RU" dirty="0" err="1"/>
              <a:t>паросочетания</a:t>
            </a:r>
            <a:r>
              <a:rPr lang="ru-RU" dirty="0"/>
              <a:t>. </a:t>
            </a:r>
          </a:p>
          <a:p>
            <a:r>
              <a:rPr lang="ru-RU" dirty="0"/>
              <a:t>Выход – ответ: Устойчивое или Неустойчивое.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5049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76C845-9A5F-544D-A04E-5CBB8D141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Упражнение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D72DB38-5479-E042-9987-95764483F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20456"/>
                <a:ext cx="7886700" cy="4656507"/>
              </a:xfrm>
            </p:spPr>
            <p:txBody>
              <a:bodyPr>
                <a:noAutofit/>
              </a:bodyPr>
              <a:lstStyle/>
              <a:p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Имеется город, в котором </a:t>
                </a:r>
                <a:r>
                  <a:rPr lang="ru-RU" sz="1800" i="1" dirty="0" err="1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мужчин и 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женщин пытаются вступить в брак. У каждого мужчины имеется список предпочтений, содержащий оценки всех женщин, а у каждой женщины — список предпочтений с оценками всех мужчин.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Множество всех 2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людей разделено на две категории: хорошие люди и плохие люди. Предположим, для некоторого числа 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1≤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) имеются 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хороших мужчин и 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хороших женщин; следовательно, существует 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-US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плохих мужчин </a:t>
                </a:r>
                <a:r>
                  <a:rPr lang="en" sz="1800" dirty="0" err="1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и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i="1" dirty="0" err="1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плохих женщин.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Каждый участник предпочитает любого хорошего человека любому плохому человеку. Формально каждый список предпочтений обладает тем свойством, что оценка любого хорошего человека противоположного пола выше оценки любого плохого человека противоположного пола: первые к позиций в нем занимают хорошие люди (противоположного пола) в некотором порядке, а затем идут </a:t>
                </a:r>
                <a:r>
                  <a:rPr lang="ru-RU" sz="1800" i="1" dirty="0" err="1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" sz="1800" i="1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плохих людей (противоположного пола) в некотором порядке.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Покажите, что в каждом устойчивом </a:t>
                </a:r>
                <a:r>
                  <a:rPr lang="ru-RU" sz="1800" dirty="0" err="1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паросочетании</a:t>
                </a:r>
                <a:r>
                  <a:rPr lang="ru-RU" sz="18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каждый хороший мужчина вступает в брак с хорошей женщиной. 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D72DB38-5479-E042-9987-95764483F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20456"/>
                <a:ext cx="7886700" cy="4656507"/>
              </a:xfrm>
              <a:blipFill>
                <a:blip r:embed="rId2"/>
                <a:stretch>
                  <a:fillRect l="-482" t="-1087" b="-217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87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CA7DCB-5EA4-824C-BD2D-1440C6DAF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Упражнение 2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DBEAFE5-583A-3B4B-B533-404A18251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5395"/>
            <a:ext cx="7886700" cy="47415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Решите, является ли приведенное ниже утверждение истинным или ложным. Если оно истинно, приведите короткое объяснение; если ложно — приведите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контрпример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любой конфигурации задачи устойчивых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существует устойчивое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содержащее пару (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котором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находится на первом месте в списке предпочтений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находится на первом месте в списке предпочтений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Допустим, имеется конфигурация задачи устойчивых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мужчиной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женщиной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которых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находится на первом месте в списке предпочтений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находится на первом месте в списке предпочтений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В этом случае в каждом устойчивом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этой конфигурации пара (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принадлежит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5142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CD686D-2DB2-3540-8EBA-23E0F01F2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0"/>
            <a:ext cx="7886700" cy="602437"/>
          </a:xfrm>
        </p:spPr>
        <p:txBody>
          <a:bodyPr>
            <a:normAutofit fontScale="90000"/>
          </a:bodyPr>
          <a:lstStyle/>
          <a:p>
            <a:r>
              <a:rPr lang="ru-RU" dirty="0"/>
              <a:t>Упражнение 3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1ECD37B-FAAE-E84B-8633-1212F4F387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02437"/>
            <a:ext cx="8292066" cy="6085442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Существует много ситуаций, в которых можно задавать вопросы, относящиеся к некой разновидности принципа «устойчивости». В следующем примере используется формулировка, основанная на конкуренции между двумя компаниями.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Допустим, имеются две телевизионные сети; назовем их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Также доступны </a:t>
            </a:r>
            <a:r>
              <a:rPr lang="ru-RU" sz="1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программных окон в течение времени массового просмотра, а каждая сеть проводит </a:t>
            </a:r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телевизионных передач. Каждая сеть хочет создать расписание — схему распределения передач по разным окнам, чтобы обеспечить себе как можно большую долю рынка.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Следующий способ поможет сравнить, насколько хорошо две сети справляются со своей задачей, исходя из их расписания. У каждой передачи имеется фиксированный рейтинг, основанный на количестве людей, посмотревших передачу в прошлом году; будем считать, что рейтинги двух передач никогда не совпадают. Сеть выигрывает заданное окно, если передача, которую она ставит в это окно, обладает более высоким рейтингом, чем передача в расписании других сетей для этого окна. Цель каждой сети — захватить как можно больше окон.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Допустим, в первую неделю осеннего сезона сеть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публикует расписание 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сеть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расписание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На основе этой пары расписаний каждая сеть захватывает некоторые окна в соответствии с приведенным выше правилом. Пара расписаний (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будет называться устойчивой, если ни одна из сетей не может в одностороннем порядке изменить свое расписание и получить дополнительные окна. Иначе говоря, не существует расписания 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такого, что сеть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парой (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получит больше окон, чем с парой (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По соображениям симметрии также не существует расписания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которым сеть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 своей парой (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захватит больше окон, чем с парой (</a:t>
            </a:r>
            <a:r>
              <a:rPr lang="en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Аналогия вопроса Гейла и Шепли для подобной устойчивости выглядит так: можно ли утверждать, что для каждого множества телепередач и оценок всегда существует устойчивая пара расписаний? Чтобы ответить на этот вопрос, сделайте одно из двух: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(а) приведите алгоритм, который для любого множества передач и связанных с ними оценок строит устойчивую пару расписаний; 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(б) приведите пример множества передач и связанных с ними оценок, для которого не существует устойчивой пары расписаний.</a:t>
            </a:r>
          </a:p>
        </p:txBody>
      </p:sp>
    </p:spTree>
    <p:extLst>
      <p:ext uri="{BB962C8B-B14F-4D97-AF65-F5344CB8AC3E}">
        <p14:creationId xmlns:p14="http://schemas.microsoft.com/office/powerpoint/2010/main" val="1343919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D1E9D5-5D31-044D-80D6-0761486A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464214"/>
          </a:xfrm>
        </p:spPr>
        <p:txBody>
          <a:bodyPr>
            <a:normAutofit fontScale="90000"/>
          </a:bodyPr>
          <a:lstStyle/>
          <a:p>
            <a:r>
              <a:rPr lang="ru-RU" dirty="0"/>
              <a:t>Упражнение 4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7E55B0-3D45-1847-8754-908169DB1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956930"/>
            <a:ext cx="7886700" cy="5773479"/>
          </a:xfrm>
        </p:spPr>
        <p:txBody>
          <a:bodyPr>
            <a:noAutofit/>
          </a:bodyPr>
          <a:lstStyle/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Гейл и Шепли опубликовали свою статью о задаче устойчивых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паросочетаний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1962 году; однако разновидность их алгоритма к тому времени уже почти 10 лет использовалась Национальной программой распределения студентов- медиков по больницам. По сути, ситуация выглядела так: было т больниц, в каждой из которых имелось некоторое количество вакансий. Также было п студентов-медиков, которые получали диплом и были заинтересованы в поступлении в одну из больниц. Каждая больница строила оценки студентов в порядке предпочтения, и каждый студент строил оценки больниц в порядке предпочтения. Будем считать, что количество выпускников превышает количество доступных вакансий в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больницах. Естественно, задача заключалась в поиске способа связывания каждого студента не более чем с одной больницей, при котором были бы заполнены все вакансии во всех больницах. (Так как предполагается, что количество студентов превышает количество вакансий, некоторые студенты не будут приняты ни в одну из больниц.)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студентов по больницам называется устойчивым, если не встречается ни одна из следующих ситуаций: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Неустойчивость первого типа: имеются студенты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также больница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которых: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	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назначается в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h,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назначается ни в одну больницу,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	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предпочитает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студенту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Неустойчивость второго типа: имеются студенты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также больницы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h',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которых: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назначается в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h,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s'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назначается в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h',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h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предпочитает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s'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студенту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s,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	s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предпочитает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больнице </a:t>
            </a:r>
            <a:r>
              <a:rPr lang="e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h'.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Фактически ситуация повторяет задачу устойчивых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паросочетания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если не считать того, что 1) в больницах обычно открыто более одной вакансии и 2) студентов больше, чем вакансий. 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Покажите, что всегда существует устойчивое распределение студентов по больницам, и приведите алгоритм поиска такого распределения.</a:t>
            </a:r>
          </a:p>
          <a:p>
            <a:pPr marL="0" indent="0">
              <a:spcBef>
                <a:spcPts val="400"/>
              </a:spcBef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400"/>
              </a:spcBef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2085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228C40-A67C-3E41-A13B-587425CB0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634334"/>
          </a:xfrm>
        </p:spPr>
        <p:txBody>
          <a:bodyPr>
            <a:normAutofit fontScale="90000"/>
          </a:bodyPr>
          <a:lstStyle/>
          <a:p>
            <a:r>
              <a:rPr lang="ru-RU" dirty="0"/>
              <a:t>Упражнение 5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F4FA4D7-AC83-9B4B-A56C-E3EA811AD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73889"/>
            <a:ext cx="7886700" cy="533754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Могут ли мужчина или женщина улучшить свое положение, солгав относительно своих предпочтений? 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Допустим, что у каждого участника имеется истинный порядок предпочтений. Теперь рассмотрим женщину </a:t>
            </a:r>
            <a:r>
              <a:rPr lang="e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Предположим, </a:t>
            </a:r>
            <a:r>
              <a:rPr lang="e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предпочитает мужчину </a:t>
            </a:r>
            <a:r>
              <a:rPr lang="ru-RU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мужчине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находятся на нижних позициях ее списка предпочтений. Может ли случиться так, что переключение порядка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списке предпочтений (например, ложным утверждением о том, что она предпочитает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мужчине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и выполнением алгоритма с ложным списком предпочтений </a:t>
            </a:r>
            <a:r>
              <a:rPr lang="e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окажется в паре с мужчиной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которого она в действительности предпочитает как </a:t>
            </a:r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так и </a:t>
            </a:r>
            <a:r>
              <a:rPr lang="en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ru-RU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e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  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Тот же вопрос можно задать и для мужчин, но в контексте нашего упражнения мы ограничимся женщинами. 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Чтобы ответить на этот вопрос, сделайте одно из двух: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(а)	приведите доказательство того, что для любого множества списков предпочтений изменение порядка следования пары в списке предпочтений не сможет улучшить статус партнера женщины в алгоритме Гейла-Шепли; 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</a:t>
            </a:r>
          </a:p>
          <a:p>
            <a:pPr marL="0" lv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(б)	приведите пример множества списков предпочтений, для которых существует изменение порядка следования пары, способное улучшить статус партнера женщины. </a:t>
            </a:r>
          </a:p>
          <a:p>
            <a:pPr marL="0" lv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5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C96F3D-2098-6549-92E3-CADEF92F8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Интервальное планирование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E6E5D1-EC35-9F4D-8E1E-8A175E320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200209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dirty="0"/>
              <a:t>Имеется некий ресурс — аудитория, суперкомпьютер, электронный микроскоп и т. д.; множество людей обращается с заявками на использование ресурса в течение периода времени. Заявка имеет вид: «Можно ли зарезервировать ресурс, начиная с времени </a:t>
            </a:r>
            <a:r>
              <a:rPr lang="en" dirty="0"/>
              <a:t>s </a:t>
            </a:r>
            <a:r>
              <a:rPr lang="ru-RU" dirty="0"/>
              <a:t>и до времени </a:t>
            </a:r>
            <a:r>
              <a:rPr lang="en" dirty="0"/>
              <a:t>f?» </a:t>
            </a:r>
            <a:r>
              <a:rPr lang="ru-RU" dirty="0"/>
              <a:t>Будем считать, что ресурс в любой момент времени может использоваться только одним человеком. Планировщик выбирает подмножество заявок, отклоняя все остальные, чтобы принятые заявки не перекрывались по времени. Целью планирования является максимизация количества принятых заявок.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9131E42-62D5-314D-8CF0-581CBA7A6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914" y="4130897"/>
            <a:ext cx="6857227" cy="180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4036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A5960B-69E6-6A4F-A53D-C17293BCD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Взвешенное интервальное планирование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EF902A-ED9A-EF47-80BD-581C03DE62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Интервалу каждой заявки </a:t>
            </a:r>
            <a:r>
              <a:rPr lang="en-US" sz="1800" dirty="0" err="1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en-US" sz="1800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присваивается соответствующий коэффициент 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(вес)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en-US" sz="1800" baseline="-25000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&gt; 0; можно рассматривать его как оплату, которую владелец ресурса получит от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-го претендента при удовлетворении его заявки. Наша цель — найти совместимое подмножество интервалов с максимальным общим весом.</a:t>
            </a:r>
            <a:endParaRPr lang="ru-RU" sz="18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</p:txBody>
      </p:sp>
    </p:spTree>
    <p:extLst>
      <p:ext uri="{BB962C8B-B14F-4D97-AF65-F5344CB8AC3E}">
        <p14:creationId xmlns:p14="http://schemas.microsoft.com/office/powerpoint/2010/main" val="670402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7E7F77-0FC0-7045-A438-A322FD5E9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6958"/>
            <a:ext cx="7886700" cy="644966"/>
          </a:xfrm>
        </p:spPr>
        <p:txBody>
          <a:bodyPr>
            <a:normAutofit fontScale="90000"/>
          </a:bodyPr>
          <a:lstStyle/>
          <a:p>
            <a:r>
              <a:rPr lang="ru-RU" dirty="0"/>
              <a:t>Двудольные </a:t>
            </a:r>
            <a:r>
              <a:rPr lang="ru-RU" dirty="0" err="1"/>
              <a:t>паросочетания</a:t>
            </a:r>
            <a:r>
              <a:rPr lang="ru-RU" dirty="0"/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7EF0A85-409C-B84B-BEA1-B22EB16A6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761924"/>
            <a:ext cx="7886700" cy="597911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Граф </a:t>
            </a:r>
            <a:r>
              <a:rPr lang="en" dirty="0"/>
              <a:t>G = (V,E) </a:t>
            </a:r>
            <a:r>
              <a:rPr lang="ru-RU" dirty="0"/>
              <a:t>называется двудольным (</a:t>
            </a:r>
            <a:r>
              <a:rPr lang="en" dirty="0"/>
              <a:t>bipartite), </a:t>
            </a:r>
            <a:r>
              <a:rPr lang="ru-RU" dirty="0"/>
              <a:t>если множество узлов </a:t>
            </a:r>
            <a:r>
              <a:rPr lang="en" dirty="0"/>
              <a:t>V</a:t>
            </a:r>
            <a:r>
              <a:rPr lang="ru-RU" dirty="0"/>
              <a:t> может быть разбито на множествами таким способом, что у каждого ребра один конец принадлежит </a:t>
            </a:r>
            <a:r>
              <a:rPr lang="en" dirty="0"/>
              <a:t>X, </a:t>
            </a:r>
            <a:r>
              <a:rPr lang="ru-RU" dirty="0"/>
              <a:t>а другой конец — </a:t>
            </a:r>
            <a:r>
              <a:rPr lang="en" dirty="0"/>
              <a:t>Y. 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В задаче поиска устойчивых </a:t>
            </a:r>
            <a:r>
              <a:rPr lang="ru-RU" dirty="0" err="1"/>
              <a:t>паросочетаний</a:t>
            </a:r>
            <a:r>
              <a:rPr lang="ru-RU" dirty="0"/>
              <a:t> результат строился из пар мужчин и женщин. В случае двудольных графов ребра представляются парами узлов, поэтому мы можем сказать, что </a:t>
            </a:r>
            <a:r>
              <a:rPr lang="ru-RU" dirty="0" err="1"/>
              <a:t>паросочетание</a:t>
            </a:r>
            <a:r>
              <a:rPr lang="ru-RU" dirty="0"/>
              <a:t> в графе </a:t>
            </a:r>
            <a:r>
              <a:rPr lang="en" dirty="0"/>
              <a:t>G = (V,E) </a:t>
            </a:r>
            <a:r>
              <a:rPr lang="ru-RU" dirty="0"/>
              <a:t>представляет собой множество </a:t>
            </a:r>
            <a:r>
              <a:rPr lang="ru-RU" dirty="0" err="1"/>
              <a:t>M</a:t>
            </a:r>
            <a:r>
              <a:rPr lang="ru-RU" dirty="0"/>
              <a:t> ребер Е с тем свойством, что каждый узел входит не более чем в одно ребро. </a:t>
            </a:r>
            <a:r>
              <a:rPr lang="ru-RU" dirty="0" err="1"/>
              <a:t>Паросочетание</a:t>
            </a:r>
            <a:r>
              <a:rPr lang="ru-RU" dirty="0"/>
              <a:t> М является идеальным, если каждый узел входит ровно в одно ребро.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6A37E365-3A66-C242-97E5-20ACE0E69F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E86A2DA-46F2-CC4A-A40F-CB0DC6895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2028" y="2113404"/>
            <a:ext cx="1222744" cy="1753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1381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65B5CD-92D6-394B-924A-31F9F01A0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Независимое множество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985F077-8EA1-E24C-91E1-121540CE8B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Для заданного графа 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= (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E</a:t>
            </a:r>
            <a:r>
              <a:rPr lang="ru-RU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множество узлов 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S</a:t>
            </a:r>
            <a:r>
              <a:rPr lang="en-US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latin typeface="Courier New" panose="02070309020205020404" pitchFamily="49" charset="0"/>
                <a:ea typeface="Courier New" panose="02070309020205020404" pitchFamily="49" charset="0"/>
              </a:rPr>
              <a:t>из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</a:t>
            </a:r>
            <a:r>
              <a:rPr lang="ru-RU" sz="1800" b="0" i="1" u="none" strike="noStrike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называется </a:t>
            </a:r>
            <a:r>
              <a:rPr lang="ru-RU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независимым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, если никакие два узла, входящие в 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S</a:t>
            </a:r>
            <a:r>
              <a:rPr lang="ru-RU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не соединяются ребром. </a:t>
            </a:r>
          </a:p>
          <a:p>
            <a:r>
              <a:rPr lang="ru-RU" sz="1800" dirty="0">
                <a:solidFill>
                  <a:srgbClr val="000000"/>
                </a:solidFill>
                <a:latin typeface="Courier New" panose="02070309020205020404" pitchFamily="49" charset="0"/>
                <a:ea typeface="Courier New" panose="02070309020205020404" pitchFamily="49" charset="0"/>
              </a:rPr>
              <a:t>З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адача поиска независимого множества формулируется так: для заданного графа </a:t>
            </a:r>
            <a:r>
              <a:rPr lang="en-US" sz="1800" b="0" i="1" u="none" strike="noStrike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en-US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Courier New" panose="02070309020205020404" pitchFamily="49" charset="0"/>
              </a:rPr>
              <a:t>найти независимое множество максимально возможного размера. </a:t>
            </a:r>
            <a:endParaRPr lang="ru-RU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9A813AA-12FC-1348-9571-57F5769C4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3322" y="3748542"/>
            <a:ext cx="17661234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2049" name="Picture 1">
            <a:extLst>
              <a:ext uri="{FF2B5EF4-FFF2-40B4-BE49-F238E27FC236}">
                <a16:creationId xmlns:a16="http://schemas.microsoft.com/office/drawing/2014/main" id="{83C53800-8009-CA47-839E-3729614D3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3322" y="3748543"/>
            <a:ext cx="2796362" cy="2428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4931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FCDAB2-B243-434A-88E4-6F7BB500F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Сведение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4ADDCA-FFDE-284B-A164-58804FBE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Задачи интервального планирования и </a:t>
            </a:r>
            <a:r>
              <a:rPr lang="ru-RU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паросочетаний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в двудольном графе могут рассматриваться как особые случаи задачи независимого множества.</a:t>
            </a: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Для задачи интервального планирования определите граф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= (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F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</a:t>
            </a:r>
            <a:r>
              <a:rPr lang="en-US" sz="1800" i="1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Е</a:t>
            </a:r>
            <a:r>
              <a:rPr lang="en-US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),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в котором узлы соответствуют интервалам, а каждая перекрывающаяся пара соединяется ребром; независимые множества в </a:t>
            </a:r>
            <a:r>
              <a:rPr lang="en-US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соответствуют совместимым подмножествам интервалов. </a:t>
            </a: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Для задачи </a:t>
            </a:r>
            <a:r>
              <a:rPr lang="ru-RU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паросочетаний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в двудольном графе: </a:t>
            </a:r>
          </a:p>
          <a:p>
            <a:pPr lvl="1"/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Для заданного двудольного графа 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’=(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400" i="1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’, 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E</a:t>
            </a:r>
            <a:r>
              <a:rPr lang="ru-RU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')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выбираемые объекты соответствуют ребрам, а конфликты возникают между двумя ребрами, имеющими общий конец (такие пары ребер не могут принадлежать общему </a:t>
            </a:r>
            <a:r>
              <a:rPr lang="ru-RU" sz="14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паросочетанию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). </a:t>
            </a:r>
          </a:p>
          <a:p>
            <a:pPr lvl="1"/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Соответственно мы определяем граф </a:t>
            </a:r>
            <a:r>
              <a:rPr lang="en-US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 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= (</a:t>
            </a:r>
            <a:r>
              <a:rPr lang="en-US" sz="1400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</a:t>
            </a:r>
            <a:r>
              <a:rPr lang="en-US" sz="1400" i="1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Е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),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в котором множество узлов 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эквивалентно множеству ребер </a:t>
            </a:r>
            <a:r>
              <a:rPr lang="en-US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E</a:t>
            </a:r>
            <a:r>
              <a:rPr lang="ru-RU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’ </a:t>
            </a:r>
            <a:r>
              <a:rPr lang="en-US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b</a:t>
            </a:r>
            <a:r>
              <a:rPr lang="ru-RU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en-US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400" i="1" cap="small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'.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4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Мы 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определяем ребро между каждой парой элементов </a:t>
            </a:r>
            <a:r>
              <a:rPr lang="ru-RU" sz="1400" i="1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соответствующих ребрам </a:t>
            </a:r>
            <a:r>
              <a:rPr lang="en-US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' с общим концом. </a:t>
            </a:r>
          </a:p>
          <a:p>
            <a:pPr lvl="1"/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Теперь можно проверить, что независимые множества </a:t>
            </a:r>
            <a:r>
              <a:rPr lang="en-US" sz="14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en-US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точно соответствуют </a:t>
            </a:r>
            <a:r>
              <a:rPr lang="ru-RU" sz="14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паросочетаниям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en-US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’.</a:t>
            </a:r>
            <a:endParaRPr lang="en-US" sz="1400" dirty="0">
              <a:solidFill>
                <a:srgbClr val="000000"/>
              </a:solidFill>
              <a:effectLst/>
              <a:latin typeface="Special#Default Metrics Font"/>
              <a:ea typeface="Special#Default Metrics Font"/>
              <a:cs typeface="Special#Default Metrics Font"/>
            </a:endParaRPr>
          </a:p>
          <a:p>
            <a:pPr lvl="1"/>
            <a:r>
              <a:rPr lang="ru-RU" sz="14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Посторим</a:t>
            </a:r>
            <a:r>
              <a:rPr lang="ru-RU" sz="14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?</a:t>
            </a:r>
            <a:endParaRPr lang="ru-RU" sz="14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6186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F55B26-1890-7B44-B030-BEA92D6E2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5693"/>
            <a:ext cx="7886700" cy="538641"/>
          </a:xfrm>
        </p:spPr>
        <p:txBody>
          <a:bodyPr>
            <a:normAutofit fontScale="90000"/>
          </a:bodyPr>
          <a:lstStyle/>
          <a:p>
            <a:r>
              <a:rPr lang="ru-RU" dirty="0"/>
              <a:t>Поиск независимого множества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9A23627F-143D-8C44-8CE8-1A8E832A13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6796938"/>
              </p:ext>
            </p:extLst>
          </p:nvPr>
        </p:nvGraphicFramePr>
        <p:xfrm>
          <a:off x="628649" y="754912"/>
          <a:ext cx="8047517" cy="559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9830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B67A38-BB82-B046-B7D8-BE4A8635F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конкурентного размещения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37A3A35-34C5-674C-9C5E-961320B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83519"/>
          </a:xfrm>
        </p:spPr>
        <p:txBody>
          <a:bodyPr>
            <a:normAutofit fontScale="85000" lnSpcReduction="20000"/>
          </a:bodyPr>
          <a:lstStyle/>
          <a:p>
            <a:pPr marL="514350" indent="-285750" algn="just">
              <a:lnSpc>
                <a:spcPct val="10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Допустим, имеются две крупные компании, которые открывают свои сети кофеен по всей стране (назовем их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JavaPlanet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Queequeg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'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s Coffee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); в настоящее время они соревнуются за свою долю рынка в некотором географическом регионе. Сначала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JavaPlanet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открывает свое заведение; затем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Queequeg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’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s Coffee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открывает свое; потом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JavaPlanet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; снова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Queequeg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’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s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и т. д. Допустим, они должны выполнять градостроительные нормы, согласно которым две кофейни не должны располагаться слишком близко друг к другу, и каждая компания пытается разместить свои заведения в самых удобных точках. Кто выиграет?</a:t>
            </a:r>
            <a:endParaRPr lang="ru-RU" sz="18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  <a:p>
            <a:pPr marL="514350" indent="-285750" algn="just">
              <a:lnSpc>
                <a:spcPct val="10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Сделаем правила «игры» более конкретными. Географический регион, о котором идет речь, разделен на </a:t>
            </a:r>
            <a:r>
              <a:rPr lang="ru-RU" sz="1800" i="1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зон с номерами 1, 2,...,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. Каждой зоне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присваивается оценка </a:t>
            </a:r>
            <a:r>
              <a:rPr lang="en-US" sz="1800" i="1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b</a:t>
            </a:r>
            <a:r>
              <a:rPr lang="en-US" sz="1800" i="1" spc="0" baseline="-250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— доход, который получит любая из компаний, открывшая кофейню в этой зоне. Наконец, некоторые пары зон (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 являются смежными, а местные градостроительные нормы запрещают открывать кофейни в двух смежных зонах независимо от того, какой компании они принадлежат (а также запрещают открывать две кофейни в одной зоне). Для моделирования этих конфликтов мы воспользуемся графом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= (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F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Е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), где </a:t>
            </a:r>
            <a:r>
              <a:rPr lang="ru-RU" sz="1800" i="1" spc="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V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—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множество зон, а (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j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) — ребро в 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Е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если зоны </a:t>
            </a:r>
            <a:r>
              <a:rPr lang="en-US" sz="1800" dirty="0" err="1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i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и </a:t>
            </a:r>
            <a:r>
              <a:rPr lang="en-US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j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являются смежными. Таким образом, градостроительные нормы требуют, чтобы полный набор кофеен образовал независимое множество в </a:t>
            </a:r>
            <a:r>
              <a:rPr lang="en-US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.</a:t>
            </a:r>
            <a:endParaRPr lang="ru-RU" sz="18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  <a:p>
            <a:pPr marL="514350" indent="-285750" algn="just">
              <a:lnSpc>
                <a:spcPct val="10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В нашей игре два игрока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1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поочередно выбирают узлы в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игрок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1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делает первый ход. Набор всех выбранных узлов в любой момент времени должен образовать независимое множество в </a:t>
            </a:r>
            <a:r>
              <a:rPr lang="en-US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G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. Предположим, игрок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имеет целевую границу 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В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, и мы хотим узнать: существует ли для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такая стратегия, чтобы независимо от выбора ходов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1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игрок </a:t>
            </a:r>
            <a:r>
              <a:rPr lang="ru-RU" sz="1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1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1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мог выбрать множество узлов с суммарной оценкой не ниже </a:t>
            </a:r>
            <a:r>
              <a:rPr lang="ru-RU" sz="1800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В</a:t>
            </a:r>
            <a:r>
              <a:rPr lang="ru-RU" sz="1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?</a:t>
            </a:r>
            <a:endParaRPr lang="ru-RU" sz="18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</p:txBody>
      </p:sp>
    </p:spTree>
    <p:extLst>
      <p:ext uri="{BB962C8B-B14F-4D97-AF65-F5344CB8AC3E}">
        <p14:creationId xmlns:p14="http://schemas.microsoft.com/office/powerpoint/2010/main" val="3378626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30887E-8699-2544-90A8-ABF33538D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конкурентного размещения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D0936E3-2DB1-E043-B760-A6E698E75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859619"/>
            <a:ext cx="7886700" cy="2317344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000000"/>
                </a:solidFill>
                <a:latin typeface="Special#Default Metrics Font"/>
                <a:ea typeface="Special#Default Metrics Font"/>
                <a:cs typeface="Special#Default Metrics Font"/>
              </a:rPr>
              <a:t>П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редположим, игроку </a:t>
            </a:r>
            <a:r>
              <a:rPr lang="ru-RU" sz="2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2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2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установлена целевая граница </a:t>
            </a:r>
            <a:r>
              <a:rPr lang="ru-RU" sz="2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В</a:t>
            </a:r>
            <a:r>
              <a:rPr lang="ru-RU" sz="2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= 20. В этом случае у </a:t>
            </a:r>
            <a:r>
              <a:rPr lang="ru-RU" sz="2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2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2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имеется выигрышная стратегия. С другой стороны, при </a:t>
            </a:r>
            <a:r>
              <a:rPr lang="ru-RU" sz="2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В</a:t>
            </a:r>
            <a:r>
              <a:rPr lang="ru-RU" sz="2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= 25 у игрока </a:t>
            </a:r>
            <a:r>
              <a:rPr lang="ru-RU" sz="2800" b="1" i="1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Р</a:t>
            </a:r>
            <a:r>
              <a:rPr lang="ru-RU" sz="2800" i="1" spc="0" baseline="-250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2</a:t>
            </a:r>
            <a:r>
              <a:rPr lang="ru-RU" sz="2800" spc="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 </a:t>
            </a:r>
            <a:r>
              <a:rPr lang="ru-RU" sz="2800" dirty="0">
                <a:solidFill>
                  <a:srgbClr val="000000"/>
                </a:solidFill>
                <a:effectLst/>
                <a:latin typeface="Special#Default Metrics Font"/>
                <a:ea typeface="Special#Default Metrics Font"/>
                <a:cs typeface="Special#Default Metrics Font"/>
              </a:rPr>
              <a:t>такой стратегии нет.</a:t>
            </a:r>
            <a:endParaRPr lang="ru-RU" sz="2800" dirty="0">
              <a:effectLst/>
              <a:latin typeface="Special#Default Metrics Font"/>
              <a:ea typeface="Special#Default Metrics Font"/>
              <a:cs typeface="Special#Default Metrics Font"/>
            </a:endParaRP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4B0A9F5-DF09-AC4E-9DD1-33E6DD012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433046"/>
            <a:ext cx="7509833" cy="80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0157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945F8F-E17B-034B-B997-2D1128533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задачи конкурентного размещения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34C9CA-2827-0445-AA82-670E1EC24868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 fontScale="85000" lnSpcReduction="20000"/>
          </a:bodyPr>
          <a:lstStyle/>
          <a:p>
            <a:r>
              <a:rPr lang="ru-RU" dirty="0"/>
              <a:t>Задача конкурентного размещения отличается от задачи независимого множества, в которой, насколько нам известно, найти большое решение сложно, зато предложенное большое решение проверяется легко. </a:t>
            </a:r>
          </a:p>
          <a:p>
            <a:r>
              <a:rPr lang="ru-RU" dirty="0"/>
              <a:t>Эти отличия формализуются в классе </a:t>
            </a:r>
            <a:r>
              <a:rPr lang="en" dirty="0"/>
              <a:t>PSPACE-</a:t>
            </a:r>
            <a:r>
              <a:rPr lang="ru-RU" dirty="0"/>
              <a:t>полых задач, к которому принадлежит задача конкурентного размещения.</a:t>
            </a:r>
          </a:p>
          <a:p>
            <a:r>
              <a:rPr lang="ru-RU" dirty="0"/>
              <a:t>Считается, что </a:t>
            </a:r>
            <a:r>
              <a:rPr lang="en" dirty="0"/>
              <a:t>PSPACE-</a:t>
            </a:r>
            <a:r>
              <a:rPr lang="ru-RU" dirty="0"/>
              <a:t>полные задачи строго сложнее </a:t>
            </a:r>
            <a:r>
              <a:rPr lang="en" dirty="0"/>
              <a:t>NP-</a:t>
            </a:r>
            <a:r>
              <a:rPr lang="ru-RU" dirty="0"/>
              <a:t>полных задач, и это предполагаемое отсутствие коротких «доказательств» их решений является признаком этой повышенной сложности. </a:t>
            </a:r>
          </a:p>
          <a:p>
            <a:r>
              <a:rPr lang="ru-RU" dirty="0"/>
              <a:t>Концепция </a:t>
            </a:r>
            <a:r>
              <a:rPr lang="en" dirty="0"/>
              <a:t>PSPACE-</a:t>
            </a:r>
            <a:r>
              <a:rPr lang="ru-RU" dirty="0"/>
              <a:t>полноты отражает широкий спектр задач, связанных с играми и планированием; многие из них считаются фундаментальными проблемами в области искусственного интеллекта.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89456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8875E0-8933-4F49-BCF4-5EEED5B7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Домашнее задание 3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651419-F750-6547-BD33-02C0B24EB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72887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Одна из задач на выбор: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Независимое множество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Конкурентное размещение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Двудольные </a:t>
            </a:r>
            <a:r>
              <a:rPr lang="ru-RU" dirty="0" err="1"/>
              <a:t>паросочетания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Взвешенное интервальное планирование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  <a:p>
            <a:pPr marL="0" indent="0">
              <a:buNone/>
            </a:pPr>
            <a:r>
              <a:rPr lang="ru-RU" dirty="0"/>
              <a:t>Написать программу решающую задачу. </a:t>
            </a:r>
          </a:p>
          <a:p>
            <a:pPr marL="0" indent="0">
              <a:buNone/>
            </a:pPr>
            <a:r>
              <a:rPr lang="ru-RU" dirty="0"/>
              <a:t>Оценить время решения. </a:t>
            </a:r>
            <a:endParaRPr lang="en-US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840164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8875E0-8933-4F49-BCF4-5EEED5B7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Домашнее задание 3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651419-F750-6547-BD33-02C0B24EB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19987"/>
            <a:ext cx="7886700" cy="487288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Как оценить время:</a:t>
            </a:r>
          </a:p>
          <a:p>
            <a:r>
              <a:rPr lang="ru-RU" dirty="0"/>
              <a:t>Эмпирически (на базе экспериментов). Оценить математическое ожидание и СКО. </a:t>
            </a:r>
          </a:p>
          <a:p>
            <a:r>
              <a:rPr lang="ru-RU" dirty="0"/>
              <a:t>Построить график зависимости времени решения от размера входных данных </a:t>
            </a:r>
            <a:r>
              <a:rPr lang="ru-RU" i="1" dirty="0" err="1"/>
              <a:t>n</a:t>
            </a:r>
            <a:r>
              <a:rPr lang="en-US" dirty="0"/>
              <a:t> </a:t>
            </a:r>
            <a:r>
              <a:rPr lang="ru-RU" dirty="0"/>
              <a:t>(оценка среднего – линия, 2 СКО – трубка). Должен быть виден характер зависимости. </a:t>
            </a:r>
          </a:p>
          <a:p>
            <a:r>
              <a:rPr lang="ru-RU" dirty="0"/>
              <a:t>Построить гистограмму времени решения для выбранного </a:t>
            </a:r>
            <a:r>
              <a:rPr lang="ru-RU" i="1" dirty="0" err="1"/>
              <a:t>n</a:t>
            </a:r>
            <a:r>
              <a:rPr lang="ru-RU" dirty="0"/>
              <a:t> (подумайте как его выбрать)</a:t>
            </a:r>
            <a:r>
              <a:rPr lang="en-US" dirty="0"/>
              <a:t>.</a:t>
            </a:r>
            <a:r>
              <a:rPr lang="ru-RU" dirty="0"/>
              <a:t> </a:t>
            </a:r>
          </a:p>
          <a:p>
            <a:r>
              <a:rPr lang="ru-RU" dirty="0"/>
              <a:t>Выбрать гипотезу о законе распределения времени для выбранного </a:t>
            </a:r>
            <a:r>
              <a:rPr lang="ru-RU" i="1" dirty="0" err="1"/>
              <a:t>n</a:t>
            </a:r>
            <a:r>
              <a:rPr lang="en-US" dirty="0"/>
              <a:t> </a:t>
            </a:r>
            <a:r>
              <a:rPr lang="ru-RU" dirty="0"/>
              <a:t>и проверить ее.</a:t>
            </a:r>
          </a:p>
          <a:p>
            <a:r>
              <a:rPr lang="ru-RU" dirty="0"/>
              <a:t>Ответить на вопрос: является ли полученное время «хорошим»? Обосновать свой ответ.  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4637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48160E-3C28-FC49-A9EF-16AC77871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задачи интервального планирования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792AD9-C915-8C4F-999E-16C55C71E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- жадный алгоритм</a:t>
            </a:r>
          </a:p>
          <a:p>
            <a:pPr lvl="1"/>
            <a:r>
              <a:rPr lang="ru-RU" dirty="0"/>
              <a:t>Что будем выбирать жадно?</a:t>
            </a:r>
          </a:p>
        </p:txBody>
      </p:sp>
    </p:spTree>
    <p:extLst>
      <p:ext uri="{BB962C8B-B14F-4D97-AF65-F5344CB8AC3E}">
        <p14:creationId xmlns:p14="http://schemas.microsoft.com/office/powerpoint/2010/main" val="26922930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5D23E5-2452-9F4C-8896-8F3EFF735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(1)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910EEF9C-7B01-BD4C-A781-505851AD2D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47809" y="2555320"/>
            <a:ext cx="7048381" cy="1249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0668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7A6E8F-A5F6-2A4A-9F80-6D49D2D2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(2)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6E3AE1A9-1616-6642-B16B-41C48565BC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7560" y="2517166"/>
            <a:ext cx="7371641" cy="109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107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57F708-0E0E-6F46-BD56-741FE1358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(3)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A8C39F97-A41B-5E42-86D9-154B093565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12359" y="2936920"/>
            <a:ext cx="7519281" cy="1656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9439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BDD2D4-0E51-0E4F-819B-1552360E9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(4)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23CC016-ED1A-574A-A2E0-0AF55B375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48" y="1690689"/>
            <a:ext cx="7529180" cy="4747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132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315</TotalTime>
  <Words>2843</Words>
  <Application>Microsoft Macintosh PowerPoint</Application>
  <PresentationFormat>Экран (4:3)</PresentationFormat>
  <Paragraphs>151</Paragraphs>
  <Slides>31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Courier New</vt:lpstr>
      <vt:lpstr>Helvetica</vt:lpstr>
      <vt:lpstr>Lucida Grande</vt:lpstr>
      <vt:lpstr>Special#Default Metrics Font</vt:lpstr>
      <vt:lpstr>Times New Roman</vt:lpstr>
      <vt:lpstr>Тема Office</vt:lpstr>
      <vt:lpstr>Теория алгоритмов</vt:lpstr>
      <vt:lpstr>Правила</vt:lpstr>
      <vt:lpstr>Давайте познакомимся</vt:lpstr>
      <vt:lpstr>Задача о паросочетаниях  (stable matching problem)</vt:lpstr>
      <vt:lpstr>Подбор больниц для студентов медицинских вузов</vt:lpstr>
      <vt:lpstr>Дано</vt:lpstr>
      <vt:lpstr>Идеальное паросочетание</vt:lpstr>
      <vt:lpstr>Нестабильные пары</vt:lpstr>
      <vt:lpstr>Тест 1</vt:lpstr>
      <vt:lpstr>Домашнее задание</vt:lpstr>
      <vt:lpstr>Упражнение 1</vt:lpstr>
      <vt:lpstr>Упражнение 2</vt:lpstr>
      <vt:lpstr>Упражнение 3</vt:lpstr>
      <vt:lpstr>Упражнение 4</vt:lpstr>
      <vt:lpstr>Упражнение 5</vt:lpstr>
      <vt:lpstr>Интервальное планирование </vt:lpstr>
      <vt:lpstr>Взвешенное интервальное планирование </vt:lpstr>
      <vt:lpstr>Двудольные паросочетания </vt:lpstr>
      <vt:lpstr>Независимое множество</vt:lpstr>
      <vt:lpstr>Сведение задачи</vt:lpstr>
      <vt:lpstr>Поиск независимого множества</vt:lpstr>
      <vt:lpstr>Задача конкурентного размещения </vt:lpstr>
      <vt:lpstr>Пример конкурентного размещения</vt:lpstr>
      <vt:lpstr>Класс задачи конкурентного размещения</vt:lpstr>
      <vt:lpstr>Домашнее задание 3</vt:lpstr>
      <vt:lpstr>Домашнее задание 3</vt:lpstr>
      <vt:lpstr>Решение задачи интервального планирования</vt:lpstr>
      <vt:lpstr>Решение (1)</vt:lpstr>
      <vt:lpstr>Решение (2)</vt:lpstr>
      <vt:lpstr>Решение (3)</vt:lpstr>
      <vt:lpstr>Решение 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Теория алгоритмов</dc:title>
  <dc:creator>Microsoft Office User</dc:creator>
  <cp:lastModifiedBy>Microsoft Office User</cp:lastModifiedBy>
  <cp:revision>22</cp:revision>
  <dcterms:created xsi:type="dcterms:W3CDTF">2026-02-09T16:49:08Z</dcterms:created>
  <dcterms:modified xsi:type="dcterms:W3CDTF">2026-03-03T17:53:10Z</dcterms:modified>
</cp:coreProperties>
</file>